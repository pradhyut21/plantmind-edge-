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PlantMind Edge. An offline-first industrial knowledge continuity platform powered by Qdrant Edge. On modern manufacturing plant floors, connectivity is never guaranteed. PlantMind Edge brings real-time vector intelligence directly onto rugged edge tablets, ensuring mission-critical maintenance knowledge is always accessible.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minute of downtime on an automotive stamping line costs twenty-two thousand dollars. That is over one point three million dollars an hour. Technicians face two brutal walls: factory floors are wireless dead zones where cloud AI fails, and senior technicians with decades of tribal knowledge are retiring every single day, taking critical plant memory with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PlantMind Edge solves this with a purpose-built edge architecture. We run an embedded Qdrant EdgeShard and a local FastEmbed ONNX model directly on the shop floor tablet. Queries are vectorized and matched against local HNSW vector indexes in under one hundred and fifty milliseconds on CPU, with zero reliance on cloud connectivity.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live offline search in action. Notice the airplane mode indicator: the tablet is completely isolated from the internet. When the technician searches for 'hydraulic pressure dropping on Line 3 press', our local engine returns Dave Miller's tribal workaround in just one hundred and thirty-three milliseconds, cutting repair time from four hours down to twelve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Technicians can log immediate observations directly on the floor. PlantMind Edge provides deliberate data sovereignty. A technician can flag an unverified observation to 'keep local until reviewed', preventing unvalidated notes from polluting the central repository until peer review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edge tablets have strict hardware limits. PlantMind Edge includes an on-device Memory Inspector that continuously monitors RAM, vector cache, and disk usage. Our local EdgeShard consumes under two hundred megabytes of RAM with automated TTL retention policies, guaranteeing peak performance on low-power devices.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tablets reconnect, conflicting offline updates are intelligently reconciled. Most edge databases rely on last-write-wins. On a manufacturing line, last-write-wins can cause fatal accidents. PlantMind Edge blocks safety-critical overwrites and invokes Groq LLaMA-3.3-70B to generate plain-language risk breakdowns and enforce master safety standards.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individual floor tablets to enterprise fleet management, PlantMind Edge scales seamlessly across multi-plant operations. Preventing just one two-hour downtime incident saves two point six million dollars, paying for PlantMind Edge across an entire enterprise. Capturing human expertise before it walks out the door. This is PlantMind Edge.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4114800" cy="457200"/>
          </a:xfrm>
          <a:prstGeom prst="rect">
            <a:avLst/>
          </a:prstGeom>
          <a:noFill/>
        </p:spPr>
        <p:txBody>
          <a:bodyPr wrap="square">
            <a:spAutoFit/>
          </a:bodyPr>
          <a:lstStyle/>
          <a:p>
            <a:pPr>
              <a:defRPr sz="1500" b="1">
                <a:solidFill>
                  <a:srgbClr val="0F172A"/>
                </a:solidFill>
                <a:latin typeface="Segoe UI"/>
              </a:defRPr>
            </a:pPr>
            <a:r>
              <a:t>🏭 PlantMind Edge  </a:t>
            </a:r>
            <a:r>
              <a:rPr sz="1100" b="1">
                <a:solidFill>
                  <a:srgbClr val="D97706"/>
                </a:solidFill>
                <a:latin typeface="Calibri"/>
              </a:rPr>
              <a:t>[ Qdrant Hackathon ]</a:t>
            </a:r>
          </a:p>
        </p:txBody>
      </p:sp>
      <p:sp>
        <p:nvSpPr>
          <p:cNvPr id="4" name="TextBox 3"/>
          <p:cNvSpPr txBox="1"/>
          <p:nvPr/>
        </p:nvSpPr>
        <p:spPr>
          <a:xfrm>
            <a:off x="4572000" y="164592"/>
            <a:ext cx="3657600" cy="411480"/>
          </a:xfrm>
          <a:prstGeom prst="rect">
            <a:avLst/>
          </a:prstGeom>
          <a:noFill/>
        </p:spPr>
        <p:txBody>
          <a:bodyPr wrap="none">
            <a:spAutoFit/>
          </a:bodyPr>
          <a:lstStyle/>
          <a:p>
            <a:pPr algn="ctr">
              <a:defRPr sz="1100">
                <a:solidFill>
                  <a:srgbClr val="475569"/>
                </a:solidFill>
                <a:latin typeface="Calibri"/>
              </a:defRPr>
            </a:pPr>
            <a:r>
              <a:t>Executive Product Showcase</a:t>
            </a:r>
          </a:p>
        </p:txBody>
      </p:sp>
      <p:sp>
        <p:nvSpPr>
          <p:cNvPr id="5" name="TextBox 4"/>
          <p:cNvSpPr txBox="1"/>
          <p:nvPr/>
        </p:nvSpPr>
        <p:spPr>
          <a:xfrm>
            <a:off x="8412480" y="164592"/>
            <a:ext cx="3200400" cy="411480"/>
          </a:xfrm>
          <a:prstGeom prst="rect">
            <a:avLst/>
          </a:prstGeom>
          <a:noFill/>
        </p:spPr>
        <p:txBody>
          <a:bodyPr wrap="none">
            <a:spAutoFit/>
          </a:bodyPr>
          <a:lstStyle/>
          <a:p>
            <a:pPr algn="r">
              <a:defRPr sz="1100" b="1">
                <a:solidFill>
                  <a:srgbClr val="475569"/>
                </a:solidFill>
                <a:latin typeface="Calibri"/>
              </a:defRPr>
            </a:pPr>
            <a:r>
              <a:t>🎙️ Indian English | Slide 01 / 08</a:t>
            </a:r>
          </a:p>
        </p:txBody>
      </p:sp>
      <p:sp>
        <p:nvSpPr>
          <p:cNvPr id="6" name="TextBox 5"/>
          <p:cNvSpPr txBox="1"/>
          <p:nvPr/>
        </p:nvSpPr>
        <p:spPr>
          <a:xfrm>
            <a:off x="731520" y="868680"/>
            <a:ext cx="10515600" cy="320040"/>
          </a:xfrm>
          <a:prstGeom prst="rect">
            <a:avLst/>
          </a:prstGeom>
          <a:noFill/>
        </p:spPr>
        <p:txBody>
          <a:bodyPr wrap="none">
            <a:spAutoFit/>
          </a:bodyPr>
          <a:lstStyle/>
          <a:p>
            <a:pPr>
              <a:defRPr sz="1000" b="1">
                <a:solidFill>
                  <a:srgbClr val="D97706"/>
                </a:solidFill>
                <a:latin typeface="Segoe UI"/>
              </a:defRPr>
            </a:pPr>
            <a:r>
              <a:t>PRODUCT KEYNOTE</a:t>
            </a:r>
          </a:p>
        </p:txBody>
      </p:sp>
      <p:sp>
        <p:nvSpPr>
          <p:cNvPr id="7" name="TextBox 6"/>
          <p:cNvSpPr txBox="1"/>
          <p:nvPr/>
        </p:nvSpPr>
        <p:spPr>
          <a:xfrm>
            <a:off x="731520" y="1115568"/>
            <a:ext cx="10515600" cy="594360"/>
          </a:xfrm>
          <a:prstGeom prst="rect">
            <a:avLst/>
          </a:prstGeom>
          <a:noFill/>
        </p:spPr>
        <p:txBody>
          <a:bodyPr wrap="none">
            <a:spAutoFit/>
          </a:bodyPr>
          <a:lstStyle/>
          <a:p>
            <a:pPr>
              <a:defRPr sz="2600" b="1">
                <a:solidFill>
                  <a:srgbClr val="0F172A"/>
                </a:solidFill>
                <a:latin typeface="Segoe UI"/>
              </a:defRPr>
            </a:pPr>
            <a:r>
              <a:t>PlantMind Edge</a:t>
            </a:r>
          </a:p>
        </p:txBody>
      </p:sp>
      <p:sp>
        <p:nvSpPr>
          <p:cNvPr id="8" name="TextBox 7"/>
          <p:cNvSpPr txBox="1"/>
          <p:nvPr/>
        </p:nvSpPr>
        <p:spPr>
          <a:xfrm>
            <a:off x="731520" y="1691640"/>
            <a:ext cx="10515600" cy="411480"/>
          </a:xfrm>
          <a:prstGeom prst="rect">
            <a:avLst/>
          </a:prstGeom>
          <a:noFill/>
        </p:spPr>
        <p:txBody>
          <a:bodyPr wrap="none">
            <a:spAutoFit/>
          </a:bodyPr>
          <a:lstStyle/>
          <a:p>
            <a:pPr>
              <a:defRPr sz="1300">
                <a:solidFill>
                  <a:srgbClr val="475569"/>
                </a:solidFill>
                <a:latin typeface="Calibri"/>
              </a:defRPr>
            </a:pPr>
            <a:r>
              <a:t>Offline-First Industrial Knowledge Continuity Powered by Qdrant Edge</a:t>
            </a:r>
          </a:p>
        </p:txBody>
      </p:sp>
      <p:sp>
        <p:nvSpPr>
          <p:cNvPr id="9" name="Rounded Rectangle 8"/>
          <p:cNvSpPr/>
          <p:nvPr/>
        </p:nvSpPr>
        <p:spPr>
          <a:xfrm>
            <a:off x="731520" y="2240280"/>
            <a:ext cx="347472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240280"/>
            <a:ext cx="3474720"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468880"/>
            <a:ext cx="3017520" cy="3474720"/>
          </a:xfrm>
          <a:prstGeom prst="rect">
            <a:avLst/>
          </a:prstGeom>
          <a:noFill/>
        </p:spPr>
        <p:txBody>
          <a:bodyPr wrap="square">
            <a:spAutoFit/>
          </a:bodyPr>
          <a:lstStyle/>
          <a:p>
            <a:pPr>
              <a:defRPr sz="1000" b="1">
                <a:solidFill>
                  <a:srgbClr val="D97706"/>
                </a:solidFill>
                <a:latin typeface="Segoe UI"/>
              </a:defRPr>
            </a:pPr>
            <a:r>
              <a:t>CORE ADVANTAGE 01</a:t>
            </a:r>
          </a:p>
          <a:p>
            <a:pPr>
              <a:spcBef>
                <a:spcPts val="800"/>
              </a:spcBef>
              <a:spcAft>
                <a:spcPts val="1200"/>
              </a:spcAft>
              <a:defRPr sz="1800" b="1">
                <a:solidFill>
                  <a:srgbClr val="0F172A"/>
                </a:solidFill>
                <a:latin typeface="Segoe UI"/>
              </a:defRPr>
            </a:pPr>
            <a:r>
              <a:t>Sub-150ms Vector Search</a:t>
            </a:r>
          </a:p>
          <a:p>
            <a:pPr>
              <a:spcAft>
                <a:spcPts val="2400"/>
              </a:spcAft>
              <a:defRPr sz="1300">
                <a:solidFill>
                  <a:srgbClr val="475569"/>
                </a:solidFill>
                <a:latin typeface="Calibri"/>
              </a:defRPr>
            </a:pPr>
            <a:r>
              <a:t>Runs an embedded Qdrant EdgeShard with FastEmbed 384d ONNX on shop-floor tablets. Zero cloud dependency.</a:t>
            </a:r>
          </a:p>
          <a:p>
            <a:pPr>
              <a:defRPr sz="1100" b="1">
                <a:solidFill>
                  <a:srgbClr val="0F172A"/>
                </a:solidFill>
                <a:latin typeface="Calibri"/>
              </a:defRPr>
            </a:pPr>
            <a:r>
              <a:t>• FastEmbed BAAI/bge-small-en-v1.5</a:t>
            </a:r>
          </a:p>
        </p:txBody>
      </p:sp>
      <p:sp>
        <p:nvSpPr>
          <p:cNvPr id="12" name="Rounded Rectangle 11"/>
          <p:cNvSpPr/>
          <p:nvPr/>
        </p:nvSpPr>
        <p:spPr>
          <a:xfrm>
            <a:off x="4343400" y="2240280"/>
            <a:ext cx="347472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2240280"/>
            <a:ext cx="3474720"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468880"/>
            <a:ext cx="3017520" cy="3474720"/>
          </a:xfrm>
          <a:prstGeom prst="rect">
            <a:avLst/>
          </a:prstGeom>
          <a:noFill/>
        </p:spPr>
        <p:txBody>
          <a:bodyPr wrap="square">
            <a:spAutoFit/>
          </a:bodyPr>
          <a:lstStyle/>
          <a:p>
            <a:pPr>
              <a:defRPr sz="1000" b="1">
                <a:solidFill>
                  <a:srgbClr val="2563EB"/>
                </a:solidFill>
                <a:latin typeface="Segoe UI"/>
              </a:defRPr>
            </a:pPr>
            <a:r>
              <a:t>CORE ADVANTAGE 02</a:t>
            </a:r>
          </a:p>
          <a:p>
            <a:pPr>
              <a:spcBef>
                <a:spcPts val="800"/>
              </a:spcBef>
              <a:spcAft>
                <a:spcPts val="1200"/>
              </a:spcAft>
              <a:defRPr sz="1800" b="1">
                <a:solidFill>
                  <a:srgbClr val="0F172A"/>
                </a:solidFill>
                <a:latin typeface="Segoe UI"/>
              </a:defRPr>
            </a:pPr>
            <a:r>
              <a:t>Deliberate Data Policy</a:t>
            </a:r>
          </a:p>
          <a:p>
            <a:pPr>
              <a:spcAft>
                <a:spcPts val="2400"/>
              </a:spcAft>
              <a:defRPr sz="1300">
                <a:solidFill>
                  <a:srgbClr val="475569"/>
                </a:solidFill>
                <a:latin typeface="Calibri"/>
              </a:defRPr>
            </a:pPr>
            <a:r>
              <a:t>Technicians decide what stays local vs. what synchronizes. Unverified observations stay protected on-device.</a:t>
            </a:r>
          </a:p>
          <a:p>
            <a:pPr>
              <a:defRPr sz="1100" b="1">
                <a:solidFill>
                  <a:srgbClr val="0F172A"/>
                </a:solidFill>
                <a:latin typeface="Calibri"/>
              </a:defRPr>
            </a:pPr>
            <a:r>
              <a:t>• Data Sovereignty by Design</a:t>
            </a:r>
          </a:p>
        </p:txBody>
      </p:sp>
      <p:sp>
        <p:nvSpPr>
          <p:cNvPr id="15" name="Rounded Rectangle 14"/>
          <p:cNvSpPr/>
          <p:nvPr/>
        </p:nvSpPr>
        <p:spPr>
          <a:xfrm>
            <a:off x="7955280" y="2240280"/>
            <a:ext cx="347472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55280" y="2240280"/>
            <a:ext cx="3474720" cy="914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468880"/>
            <a:ext cx="3017520" cy="3474720"/>
          </a:xfrm>
          <a:prstGeom prst="rect">
            <a:avLst/>
          </a:prstGeom>
          <a:noFill/>
        </p:spPr>
        <p:txBody>
          <a:bodyPr wrap="square">
            <a:spAutoFit/>
          </a:bodyPr>
          <a:lstStyle/>
          <a:p>
            <a:pPr>
              <a:defRPr sz="1000" b="1">
                <a:solidFill>
                  <a:srgbClr val="059669"/>
                </a:solidFill>
                <a:latin typeface="Segoe UI"/>
              </a:defRPr>
            </a:pPr>
            <a:r>
              <a:t>CORE ADVANTAGE 03</a:t>
            </a:r>
          </a:p>
          <a:p>
            <a:pPr>
              <a:spcBef>
                <a:spcPts val="800"/>
              </a:spcBef>
              <a:spcAft>
                <a:spcPts val="1200"/>
              </a:spcAft>
              <a:defRPr sz="1800" b="1">
                <a:solidFill>
                  <a:srgbClr val="0F172A"/>
                </a:solidFill>
                <a:latin typeface="Segoe UI"/>
              </a:defRPr>
            </a:pPr>
            <a:r>
              <a:t>Groq LLaMA Safety Sync</a:t>
            </a:r>
          </a:p>
          <a:p>
            <a:pPr>
              <a:spcAft>
                <a:spcPts val="2400"/>
              </a:spcAft>
              <a:defRPr sz="1300">
                <a:solidFill>
                  <a:srgbClr val="475569"/>
                </a:solidFill>
                <a:latin typeface="Calibri"/>
              </a:defRPr>
            </a:pPr>
            <a:r>
              <a:t>Rejects 'last-write-wins' on safety-critical procedures. Groq LLaMA-3.3-70B synthesizes risk diffs for humans.</a:t>
            </a:r>
          </a:p>
          <a:p>
            <a:pPr>
              <a:defRPr sz="1100" b="1">
                <a:solidFill>
                  <a:srgbClr val="0F172A"/>
                </a:solidFill>
                <a:latin typeface="Calibri"/>
              </a:defRPr>
            </a:pPr>
            <a:r>
              <a:t>• Zero Fatal Overwrites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4114800" cy="457200"/>
          </a:xfrm>
          <a:prstGeom prst="rect">
            <a:avLst/>
          </a:prstGeom>
          <a:noFill/>
        </p:spPr>
        <p:txBody>
          <a:bodyPr wrap="square">
            <a:spAutoFit/>
          </a:bodyPr>
          <a:lstStyle/>
          <a:p>
            <a:pPr>
              <a:defRPr sz="1500" b="1">
                <a:solidFill>
                  <a:srgbClr val="0F172A"/>
                </a:solidFill>
                <a:latin typeface="Segoe UI"/>
              </a:defRPr>
            </a:pPr>
            <a:r>
              <a:t>🏭 PlantMind Edge  </a:t>
            </a:r>
            <a:r>
              <a:rPr sz="1100" b="1">
                <a:solidFill>
                  <a:srgbClr val="D97706"/>
                </a:solidFill>
                <a:latin typeface="Calibri"/>
              </a:rPr>
              <a:t>[ Qdrant Hackathon ]</a:t>
            </a:r>
          </a:p>
        </p:txBody>
      </p:sp>
      <p:sp>
        <p:nvSpPr>
          <p:cNvPr id="4" name="TextBox 3"/>
          <p:cNvSpPr txBox="1"/>
          <p:nvPr/>
        </p:nvSpPr>
        <p:spPr>
          <a:xfrm>
            <a:off x="4572000" y="164592"/>
            <a:ext cx="3657600" cy="411480"/>
          </a:xfrm>
          <a:prstGeom prst="rect">
            <a:avLst/>
          </a:prstGeom>
          <a:noFill/>
        </p:spPr>
        <p:txBody>
          <a:bodyPr wrap="none">
            <a:spAutoFit/>
          </a:bodyPr>
          <a:lstStyle/>
          <a:p>
            <a:pPr algn="ctr">
              <a:defRPr sz="1100">
                <a:solidFill>
                  <a:srgbClr val="475569"/>
                </a:solidFill>
                <a:latin typeface="Calibri"/>
              </a:defRPr>
            </a:pPr>
            <a:r>
              <a:t>Executive Product Showcase</a:t>
            </a:r>
          </a:p>
        </p:txBody>
      </p:sp>
      <p:sp>
        <p:nvSpPr>
          <p:cNvPr id="5" name="TextBox 4"/>
          <p:cNvSpPr txBox="1"/>
          <p:nvPr/>
        </p:nvSpPr>
        <p:spPr>
          <a:xfrm>
            <a:off x="8412480" y="164592"/>
            <a:ext cx="3200400" cy="411480"/>
          </a:xfrm>
          <a:prstGeom prst="rect">
            <a:avLst/>
          </a:prstGeom>
          <a:noFill/>
        </p:spPr>
        <p:txBody>
          <a:bodyPr wrap="none">
            <a:spAutoFit/>
          </a:bodyPr>
          <a:lstStyle/>
          <a:p>
            <a:pPr algn="r">
              <a:defRPr sz="1100" b="1">
                <a:solidFill>
                  <a:srgbClr val="475569"/>
                </a:solidFill>
                <a:latin typeface="Calibri"/>
              </a:defRPr>
            </a:pPr>
            <a:r>
              <a:t>🎙️ Indian English | Slide 02 / 08</a:t>
            </a:r>
          </a:p>
        </p:txBody>
      </p:sp>
      <p:sp>
        <p:nvSpPr>
          <p:cNvPr id="6" name="TextBox 5"/>
          <p:cNvSpPr txBox="1"/>
          <p:nvPr/>
        </p:nvSpPr>
        <p:spPr>
          <a:xfrm>
            <a:off x="731520" y="868680"/>
            <a:ext cx="10515600" cy="320040"/>
          </a:xfrm>
          <a:prstGeom prst="rect">
            <a:avLst/>
          </a:prstGeom>
          <a:noFill/>
        </p:spPr>
        <p:txBody>
          <a:bodyPr wrap="none">
            <a:spAutoFit/>
          </a:bodyPr>
          <a:lstStyle/>
          <a:p>
            <a:pPr>
              <a:defRPr sz="1000" b="1">
                <a:solidFill>
                  <a:srgbClr val="D97706"/>
                </a:solidFill>
                <a:latin typeface="Segoe UI"/>
              </a:defRPr>
            </a:pPr>
            <a:r>
              <a:t>THE PROBLEM STATEMENT</a:t>
            </a:r>
          </a:p>
        </p:txBody>
      </p:sp>
      <p:sp>
        <p:nvSpPr>
          <p:cNvPr id="7" name="TextBox 6"/>
          <p:cNvSpPr txBox="1"/>
          <p:nvPr/>
        </p:nvSpPr>
        <p:spPr>
          <a:xfrm>
            <a:off x="731520" y="1115568"/>
            <a:ext cx="10515600" cy="594360"/>
          </a:xfrm>
          <a:prstGeom prst="rect">
            <a:avLst/>
          </a:prstGeom>
          <a:noFill/>
        </p:spPr>
        <p:txBody>
          <a:bodyPr wrap="none">
            <a:spAutoFit/>
          </a:bodyPr>
          <a:lstStyle/>
          <a:p>
            <a:pPr>
              <a:defRPr sz="2600" b="1">
                <a:solidFill>
                  <a:srgbClr val="0F172A"/>
                </a:solidFill>
                <a:latin typeface="Segoe UI"/>
              </a:defRPr>
            </a:pPr>
            <a:r>
              <a:t>The $22,000 / Minute Downtime Crisis</a:t>
            </a:r>
          </a:p>
        </p:txBody>
      </p:sp>
      <p:sp>
        <p:nvSpPr>
          <p:cNvPr id="8" name="TextBox 7"/>
          <p:cNvSpPr txBox="1"/>
          <p:nvPr/>
        </p:nvSpPr>
        <p:spPr>
          <a:xfrm>
            <a:off x="731520" y="1691640"/>
            <a:ext cx="10515600" cy="411480"/>
          </a:xfrm>
          <a:prstGeom prst="rect">
            <a:avLst/>
          </a:prstGeom>
          <a:noFill/>
        </p:spPr>
        <p:txBody>
          <a:bodyPr wrap="none">
            <a:spAutoFit/>
          </a:bodyPr>
          <a:lstStyle/>
          <a:p>
            <a:pPr>
              <a:defRPr sz="1300">
                <a:solidFill>
                  <a:srgbClr val="475569"/>
                </a:solidFill>
                <a:latin typeface="Calibri"/>
              </a:defRPr>
            </a:pPr>
            <a:r>
              <a:t>When production halts in a concrete Faraday cage, cloud AI is completely dead.</a:t>
            </a:r>
          </a:p>
        </p:txBody>
      </p:sp>
      <p:sp>
        <p:nvSpPr>
          <p:cNvPr id="9" name="Rounded Rectangle 8"/>
          <p:cNvSpPr/>
          <p:nvPr/>
        </p:nvSpPr>
        <p:spPr>
          <a:xfrm>
            <a:off x="731520" y="2240280"/>
            <a:ext cx="347472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240280"/>
            <a:ext cx="3474720" cy="91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468880"/>
            <a:ext cx="3017520" cy="3474720"/>
          </a:xfrm>
          <a:prstGeom prst="rect">
            <a:avLst/>
          </a:prstGeom>
          <a:noFill/>
        </p:spPr>
        <p:txBody>
          <a:bodyPr wrap="square">
            <a:spAutoFit/>
          </a:bodyPr>
          <a:lstStyle/>
          <a:p>
            <a:pPr>
              <a:defRPr sz="1000" b="1">
                <a:solidFill>
                  <a:srgbClr val="475569"/>
                </a:solidFill>
                <a:latin typeface="Segoe UI"/>
              </a:defRPr>
            </a:pPr>
            <a:r>
              <a:t>STAMPING LINE COST</a:t>
            </a:r>
          </a:p>
          <a:p>
            <a:pPr>
              <a:spcBef>
                <a:spcPts val="600"/>
              </a:spcBef>
              <a:spcAft>
                <a:spcPts val="1000"/>
              </a:spcAft>
              <a:defRPr sz="3600" b="1">
                <a:solidFill>
                  <a:srgbClr val="DC2626"/>
                </a:solidFill>
                <a:latin typeface="Segoe UI"/>
              </a:defRPr>
            </a:pPr>
            <a:r>
              <a:t>$22,000</a:t>
            </a:r>
          </a:p>
          <a:p>
            <a:pPr>
              <a:spcAft>
                <a:spcPts val="2000"/>
              </a:spcAft>
              <a:defRPr sz="1300">
                <a:solidFill>
                  <a:srgbClr val="0F172A"/>
                </a:solidFill>
                <a:latin typeface="Calibri"/>
              </a:defRPr>
            </a:pPr>
            <a:r>
              <a:t>Per minute of unplanned factory line halt ($1.32M / hour).</a:t>
            </a:r>
          </a:p>
          <a:p>
            <a:pPr>
              <a:defRPr sz="1100">
                <a:solidFill>
                  <a:srgbClr val="475569"/>
                </a:solidFill>
                <a:latin typeface="Calibri"/>
              </a:defRPr>
            </a:pPr>
            <a:r>
              <a:t>High Stakes: Automotive OEM penalties exceed $50K per delayed shipment batch.</a:t>
            </a:r>
          </a:p>
        </p:txBody>
      </p:sp>
      <p:sp>
        <p:nvSpPr>
          <p:cNvPr id="12" name="Rounded Rectangle 11"/>
          <p:cNvSpPr/>
          <p:nvPr/>
        </p:nvSpPr>
        <p:spPr>
          <a:xfrm>
            <a:off x="4343400" y="2240280"/>
            <a:ext cx="347472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2240280"/>
            <a:ext cx="3474720"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468880"/>
            <a:ext cx="3017520" cy="3474720"/>
          </a:xfrm>
          <a:prstGeom prst="rect">
            <a:avLst/>
          </a:prstGeom>
          <a:noFill/>
        </p:spPr>
        <p:txBody>
          <a:bodyPr wrap="square">
            <a:spAutoFit/>
          </a:bodyPr>
          <a:lstStyle/>
          <a:p>
            <a:pPr>
              <a:defRPr sz="1000" b="1">
                <a:solidFill>
                  <a:srgbClr val="475569"/>
                </a:solidFill>
                <a:latin typeface="Segoe UI"/>
              </a:defRPr>
            </a:pPr>
            <a:r>
              <a:t>DEMOGRAPHIC CLIFF</a:t>
            </a:r>
          </a:p>
          <a:p>
            <a:pPr>
              <a:spcBef>
                <a:spcPts val="600"/>
              </a:spcBef>
              <a:spcAft>
                <a:spcPts val="1000"/>
              </a:spcAft>
              <a:defRPr sz="3600" b="1">
                <a:solidFill>
                  <a:srgbClr val="D97706"/>
                </a:solidFill>
                <a:latin typeface="Segoe UI"/>
              </a:defRPr>
            </a:pPr>
            <a:r>
              <a:t>10,000</a:t>
            </a:r>
          </a:p>
          <a:p>
            <a:pPr>
              <a:spcAft>
                <a:spcPts val="2000"/>
              </a:spcAft>
              <a:defRPr sz="1300">
                <a:solidFill>
                  <a:srgbClr val="0F172A"/>
                </a:solidFill>
                <a:latin typeface="Calibri"/>
              </a:defRPr>
            </a:pPr>
            <a:r>
              <a:t>Senior technicians retiring every single day in North America.</a:t>
            </a:r>
          </a:p>
          <a:p>
            <a:pPr>
              <a:defRPr sz="1100">
                <a:solidFill>
                  <a:srgbClr val="475569"/>
                </a:solidFill>
                <a:latin typeface="Calibri"/>
              </a:defRPr>
            </a:pPr>
            <a:r>
              <a:t>Tribal Loss: Master tech Dave Miller retires next month with 28 years of unwritten fixes.</a:t>
            </a:r>
          </a:p>
        </p:txBody>
      </p:sp>
      <p:sp>
        <p:nvSpPr>
          <p:cNvPr id="15" name="Rounded Rectangle 14"/>
          <p:cNvSpPr/>
          <p:nvPr/>
        </p:nvSpPr>
        <p:spPr>
          <a:xfrm>
            <a:off x="7955280" y="2240280"/>
            <a:ext cx="347472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55280" y="2240280"/>
            <a:ext cx="3474720"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468880"/>
            <a:ext cx="3017520" cy="3474720"/>
          </a:xfrm>
          <a:prstGeom prst="rect">
            <a:avLst/>
          </a:prstGeom>
          <a:noFill/>
        </p:spPr>
        <p:txBody>
          <a:bodyPr wrap="square">
            <a:spAutoFit/>
          </a:bodyPr>
          <a:lstStyle/>
          <a:p>
            <a:pPr>
              <a:defRPr sz="1000" b="1">
                <a:solidFill>
                  <a:srgbClr val="475569"/>
                </a:solidFill>
                <a:latin typeface="Segoe UI"/>
              </a:defRPr>
            </a:pPr>
            <a:r>
              <a:t>FLOOR CONNECTIVITY</a:t>
            </a:r>
          </a:p>
          <a:p>
            <a:pPr>
              <a:spcBef>
                <a:spcPts val="600"/>
              </a:spcBef>
              <a:spcAft>
                <a:spcPts val="1000"/>
              </a:spcAft>
              <a:defRPr sz="3600" b="1">
                <a:solidFill>
                  <a:srgbClr val="2563EB"/>
                </a:solidFill>
                <a:latin typeface="Segoe UI"/>
              </a:defRPr>
            </a:pPr>
            <a:r>
              <a:t>0% Wi-Fi</a:t>
            </a:r>
          </a:p>
          <a:p>
            <a:pPr>
              <a:spcAft>
                <a:spcPts val="2000"/>
              </a:spcAft>
              <a:defRPr sz="1300">
                <a:solidFill>
                  <a:srgbClr val="0F172A"/>
                </a:solidFill>
                <a:latin typeface="Calibri"/>
              </a:defRPr>
            </a:pPr>
            <a:r>
              <a:t>Reinforced concrete &amp; EMI shields create permanent dead zones.</a:t>
            </a:r>
          </a:p>
          <a:p>
            <a:pPr>
              <a:defRPr sz="1100">
                <a:solidFill>
                  <a:srgbClr val="475569"/>
                </a:solidFill>
                <a:latin typeface="Calibri"/>
              </a:defRPr>
            </a:pPr>
            <a:r>
              <a:t>Cloud Failure: Cloud AI cannot open the login page in plant dead zones.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4114800" cy="457200"/>
          </a:xfrm>
          <a:prstGeom prst="rect">
            <a:avLst/>
          </a:prstGeom>
          <a:noFill/>
        </p:spPr>
        <p:txBody>
          <a:bodyPr wrap="square">
            <a:spAutoFit/>
          </a:bodyPr>
          <a:lstStyle/>
          <a:p>
            <a:pPr>
              <a:defRPr sz="1500" b="1">
                <a:solidFill>
                  <a:srgbClr val="0F172A"/>
                </a:solidFill>
                <a:latin typeface="Segoe UI"/>
              </a:defRPr>
            </a:pPr>
            <a:r>
              <a:t>🏭 PlantMind Edge  </a:t>
            </a:r>
            <a:r>
              <a:rPr sz="1100" b="1">
                <a:solidFill>
                  <a:srgbClr val="D97706"/>
                </a:solidFill>
                <a:latin typeface="Calibri"/>
              </a:rPr>
              <a:t>[ Qdrant Hackathon ]</a:t>
            </a:r>
          </a:p>
        </p:txBody>
      </p:sp>
      <p:sp>
        <p:nvSpPr>
          <p:cNvPr id="4" name="TextBox 3"/>
          <p:cNvSpPr txBox="1"/>
          <p:nvPr/>
        </p:nvSpPr>
        <p:spPr>
          <a:xfrm>
            <a:off x="4572000" y="164592"/>
            <a:ext cx="3657600" cy="411480"/>
          </a:xfrm>
          <a:prstGeom prst="rect">
            <a:avLst/>
          </a:prstGeom>
          <a:noFill/>
        </p:spPr>
        <p:txBody>
          <a:bodyPr wrap="none">
            <a:spAutoFit/>
          </a:bodyPr>
          <a:lstStyle/>
          <a:p>
            <a:pPr algn="ctr">
              <a:defRPr sz="1100">
                <a:solidFill>
                  <a:srgbClr val="475569"/>
                </a:solidFill>
                <a:latin typeface="Calibri"/>
              </a:defRPr>
            </a:pPr>
            <a:r>
              <a:t>Executive Product Showcase</a:t>
            </a:r>
          </a:p>
        </p:txBody>
      </p:sp>
      <p:sp>
        <p:nvSpPr>
          <p:cNvPr id="5" name="TextBox 4"/>
          <p:cNvSpPr txBox="1"/>
          <p:nvPr/>
        </p:nvSpPr>
        <p:spPr>
          <a:xfrm>
            <a:off x="8412480" y="164592"/>
            <a:ext cx="3200400" cy="411480"/>
          </a:xfrm>
          <a:prstGeom prst="rect">
            <a:avLst/>
          </a:prstGeom>
          <a:noFill/>
        </p:spPr>
        <p:txBody>
          <a:bodyPr wrap="none">
            <a:spAutoFit/>
          </a:bodyPr>
          <a:lstStyle/>
          <a:p>
            <a:pPr algn="r">
              <a:defRPr sz="1100" b="1">
                <a:solidFill>
                  <a:srgbClr val="475569"/>
                </a:solidFill>
                <a:latin typeface="Calibri"/>
              </a:defRPr>
            </a:pPr>
            <a:r>
              <a:t>🎙️ Indian English | Slide 03 / 08</a:t>
            </a:r>
          </a:p>
        </p:txBody>
      </p:sp>
      <p:sp>
        <p:nvSpPr>
          <p:cNvPr id="6" name="TextBox 5"/>
          <p:cNvSpPr txBox="1"/>
          <p:nvPr/>
        </p:nvSpPr>
        <p:spPr>
          <a:xfrm>
            <a:off x="731520" y="868680"/>
            <a:ext cx="10515600" cy="320040"/>
          </a:xfrm>
          <a:prstGeom prst="rect">
            <a:avLst/>
          </a:prstGeom>
          <a:noFill/>
        </p:spPr>
        <p:txBody>
          <a:bodyPr wrap="none">
            <a:spAutoFit/>
          </a:bodyPr>
          <a:lstStyle/>
          <a:p>
            <a:pPr>
              <a:defRPr sz="1000" b="1">
                <a:solidFill>
                  <a:srgbClr val="D97706"/>
                </a:solidFill>
                <a:latin typeface="Segoe UI"/>
              </a:defRPr>
            </a:pPr>
            <a:r>
              <a:t>SYSTEM ARCHITECTURE</a:t>
            </a:r>
          </a:p>
        </p:txBody>
      </p:sp>
      <p:sp>
        <p:nvSpPr>
          <p:cNvPr id="7" name="TextBox 6"/>
          <p:cNvSpPr txBox="1"/>
          <p:nvPr/>
        </p:nvSpPr>
        <p:spPr>
          <a:xfrm>
            <a:off x="731520" y="1115568"/>
            <a:ext cx="10515600" cy="594360"/>
          </a:xfrm>
          <a:prstGeom prst="rect">
            <a:avLst/>
          </a:prstGeom>
          <a:noFill/>
        </p:spPr>
        <p:txBody>
          <a:bodyPr wrap="none">
            <a:spAutoFit/>
          </a:bodyPr>
          <a:lstStyle/>
          <a:p>
            <a:pPr>
              <a:defRPr sz="2600" b="1">
                <a:solidFill>
                  <a:srgbClr val="0F172A"/>
                </a:solidFill>
                <a:latin typeface="Segoe UI"/>
              </a:defRPr>
            </a:pPr>
            <a:r>
              <a:t>Embedded Edge Intelligence: Qdrant on the Floor</a:t>
            </a:r>
          </a:p>
        </p:txBody>
      </p:sp>
      <p:sp>
        <p:nvSpPr>
          <p:cNvPr id="8" name="TextBox 7"/>
          <p:cNvSpPr txBox="1"/>
          <p:nvPr/>
        </p:nvSpPr>
        <p:spPr>
          <a:xfrm>
            <a:off x="731520" y="1691640"/>
            <a:ext cx="10515600" cy="411480"/>
          </a:xfrm>
          <a:prstGeom prst="rect">
            <a:avLst/>
          </a:prstGeom>
          <a:noFill/>
        </p:spPr>
        <p:txBody>
          <a:bodyPr wrap="none">
            <a:spAutoFit/>
          </a:bodyPr>
          <a:lstStyle/>
          <a:p>
            <a:pPr>
              <a:defRPr sz="1300">
                <a:solidFill>
                  <a:srgbClr val="475569"/>
                </a:solidFill>
                <a:latin typeface="Calibri"/>
              </a:defRPr>
            </a:pPr>
            <a:r>
              <a:t>Local CPU vectorization paired with intelligent, conflict-aware central synchronization.</a:t>
            </a:r>
          </a:p>
        </p:txBody>
      </p:sp>
      <p:sp>
        <p:nvSpPr>
          <p:cNvPr id="9" name="Rounded Rectangle 8"/>
          <p:cNvSpPr/>
          <p:nvPr/>
        </p:nvSpPr>
        <p:spPr>
          <a:xfrm>
            <a:off x="731520" y="2240280"/>
            <a:ext cx="4846320" cy="3931920"/>
          </a:xfrm>
          <a:prstGeom prst="roundRect">
            <a:avLst/>
          </a:prstGeom>
          <a:solidFill>
            <a:srgbClr val="FFFFFF"/>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468880"/>
            <a:ext cx="4297680" cy="3474720"/>
          </a:xfrm>
          <a:prstGeom prst="rect">
            <a:avLst/>
          </a:prstGeom>
          <a:noFill/>
        </p:spPr>
        <p:txBody>
          <a:bodyPr wrap="square">
            <a:spAutoFit/>
          </a:bodyPr>
          <a:lstStyle/>
          <a:p>
            <a:pPr>
              <a:spcAft>
                <a:spcPts val="1400"/>
              </a:spcAft>
              <a:defRPr sz="1600" b="1">
                <a:solidFill>
                  <a:srgbClr val="0F172A"/>
                </a:solidFill>
                <a:latin typeface="Segoe UI"/>
              </a:defRPr>
            </a:pPr>
            <a:r>
              <a:t>📱 Rugged Edge Tablet (Shop Floor)</a:t>
            </a:r>
          </a:p>
          <a:p>
            <a:pPr>
              <a:defRPr sz="1200" b="1">
                <a:solidFill>
                  <a:srgbClr val="D97706"/>
                </a:solidFill>
                <a:latin typeface="Segoe UI"/>
              </a:defRPr>
            </a:pPr>
            <a:r>
              <a:t>• FastEmbed BAAI/bge-small-en-v1.5</a:t>
            </a:r>
          </a:p>
          <a:p>
            <a:pPr>
              <a:spcAft>
                <a:spcPts val="800"/>
              </a:spcAft>
              <a:defRPr sz="1100">
                <a:solidFill>
                  <a:srgbClr val="475569"/>
                </a:solidFill>
                <a:latin typeface="Calibri"/>
              </a:defRPr>
            </a:pPr>
            <a:r>
              <a:t>  384-dimensional dense ONNX embeddings executed locally on CPU with zero cloud roundtrips.</a:t>
            </a:r>
          </a:p>
          <a:p>
            <a:pPr>
              <a:defRPr sz="1200" b="1">
                <a:solidFill>
                  <a:srgbClr val="D97706"/>
                </a:solidFill>
                <a:latin typeface="Segoe UI"/>
              </a:defRPr>
            </a:pPr>
            <a:r>
              <a:t>• Embedded Qdrant EdgeShard</a:t>
            </a:r>
          </a:p>
          <a:p>
            <a:pPr>
              <a:spcAft>
                <a:spcPts val="800"/>
              </a:spcAft>
              <a:defRPr sz="1100">
                <a:solidFill>
                  <a:srgbClr val="475569"/>
                </a:solidFill>
                <a:latin typeface="Calibri"/>
              </a:defRPr>
            </a:pPr>
            <a:r>
              <a:t>  High-performance HNSW cosine vector index delivering sub-150ms semantic search on constrained memory.</a:t>
            </a:r>
          </a:p>
          <a:p>
            <a:pPr>
              <a:defRPr sz="1200" b="1">
                <a:solidFill>
                  <a:srgbClr val="D97706"/>
                </a:solidFill>
                <a:latin typeface="Segoe UI"/>
              </a:defRPr>
            </a:pPr>
            <a:r>
              <a:t>• Append-Only SQLite Log</a:t>
            </a:r>
          </a:p>
          <a:p>
            <a:pPr>
              <a:spcAft>
                <a:spcPts val="800"/>
              </a:spcAft>
              <a:defRPr sz="1100">
                <a:solidFill>
                  <a:srgbClr val="475569"/>
                </a:solidFill>
                <a:latin typeface="Calibri"/>
              </a:defRPr>
            </a:pPr>
            <a:r>
              <a:t>  Tamper-proof monotonic sequence counter (#1042) ensuring immediate local searchability and data sovereignty.</a:t>
            </a:r>
          </a:p>
        </p:txBody>
      </p:sp>
      <p:sp>
        <p:nvSpPr>
          <p:cNvPr id="11" name="Rounded Rectangle 10"/>
          <p:cNvSpPr/>
          <p:nvPr/>
        </p:nvSpPr>
        <p:spPr>
          <a:xfrm>
            <a:off x="5760720" y="3291840"/>
            <a:ext cx="1188720" cy="1828800"/>
          </a:xfrm>
          <a:prstGeom prst="roundRect">
            <a:avLst/>
          </a:prstGeom>
          <a:solidFill>
            <a:srgbClr val="FEF3C7"/>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0" y="3474720"/>
            <a:ext cx="1188720" cy="1463040"/>
          </a:xfrm>
          <a:prstGeom prst="rect">
            <a:avLst/>
          </a:prstGeom>
          <a:noFill/>
        </p:spPr>
        <p:txBody>
          <a:bodyPr wrap="square">
            <a:spAutoFit/>
          </a:bodyPr>
          <a:lstStyle/>
          <a:p>
            <a:pPr algn="ctr">
              <a:defRPr sz="1100" b="1">
                <a:solidFill>
                  <a:srgbClr val="D97706"/>
                </a:solidFill>
                <a:latin typeface="Calibri"/>
              </a:defRPr>
            </a:pPr>
            <a:r>
              <a:t>Intermittent</a:t>
            </a:r>
            <a:br/>
            <a:r>
              <a:t>LAN Sync</a:t>
            </a:r>
            <a:br/>
            <a:r>
              <a:t>⇄</a:t>
            </a:r>
            <a:br/>
            <a:r>
              <a:t>Snapshot</a:t>
            </a:r>
            <a:br/>
            <a:r>
              <a:t>Transfer</a:t>
            </a:r>
          </a:p>
        </p:txBody>
      </p:sp>
      <p:sp>
        <p:nvSpPr>
          <p:cNvPr id="13" name="Rounded Rectangle 12"/>
          <p:cNvSpPr/>
          <p:nvPr/>
        </p:nvSpPr>
        <p:spPr>
          <a:xfrm>
            <a:off x="7132320" y="2240280"/>
            <a:ext cx="4297680" cy="393192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0" y="2468880"/>
            <a:ext cx="3749039" cy="3474720"/>
          </a:xfrm>
          <a:prstGeom prst="rect">
            <a:avLst/>
          </a:prstGeom>
          <a:noFill/>
        </p:spPr>
        <p:txBody>
          <a:bodyPr wrap="square">
            <a:spAutoFit/>
          </a:bodyPr>
          <a:lstStyle/>
          <a:p>
            <a:pPr>
              <a:spcAft>
                <a:spcPts val="1400"/>
              </a:spcAft>
              <a:defRPr sz="1600" b="1">
                <a:solidFill>
                  <a:srgbClr val="0F172A"/>
                </a:solidFill>
                <a:latin typeface="Segoe UI"/>
              </a:defRPr>
            </a:pPr>
            <a:r>
              <a:t>☁️ Central Engineering Cloud</a:t>
            </a:r>
          </a:p>
          <a:p>
            <a:pPr>
              <a:defRPr sz="1200" b="1">
                <a:solidFill>
                  <a:srgbClr val="2563EB"/>
                </a:solidFill>
                <a:latin typeface="Segoe UI"/>
              </a:defRPr>
            </a:pPr>
            <a:r>
              <a:t>• Central Qdrant Vector Server</a:t>
            </a:r>
          </a:p>
          <a:p>
            <a:pPr>
              <a:spcAft>
                <a:spcPts val="800"/>
              </a:spcAft>
              <a:defRPr sz="1100">
                <a:solidFill>
                  <a:srgbClr val="475569"/>
                </a:solidFill>
                <a:latin typeface="Calibri"/>
              </a:defRPr>
            </a:pPr>
            <a:r>
              <a:t>  Global golden master database managing corporate procedures, manuals, and synchronized plant fleet records.</a:t>
            </a:r>
          </a:p>
          <a:p>
            <a:pPr>
              <a:defRPr sz="1200" b="1">
                <a:solidFill>
                  <a:srgbClr val="2563EB"/>
                </a:solidFill>
                <a:latin typeface="Segoe UI"/>
              </a:defRPr>
            </a:pPr>
            <a:r>
              <a:t>• Groq LLaMA-3.3-70B Reconciler</a:t>
            </a:r>
          </a:p>
          <a:p>
            <a:pPr>
              <a:spcAft>
                <a:spcPts val="800"/>
              </a:spcAft>
              <a:defRPr sz="1100">
                <a:solidFill>
                  <a:srgbClr val="475569"/>
                </a:solidFill>
                <a:latin typeface="Calibri"/>
              </a:defRPr>
            </a:pPr>
            <a:r>
              <a:t>  Automated AI conflict analysis; generates plain-language diffs and blocks fatal last-write-wins overwrites.</a:t>
            </a:r>
          </a:p>
          <a:p>
            <a:pPr>
              <a:defRPr sz="1200" b="1">
                <a:solidFill>
                  <a:srgbClr val="2563EB"/>
                </a:solidFill>
                <a:latin typeface="Segoe UI"/>
              </a:defRPr>
            </a:pPr>
            <a:r>
              <a:t>• Plant Fleet Inventory Hub</a:t>
            </a:r>
          </a:p>
          <a:p>
            <a:pPr>
              <a:spcAft>
                <a:spcPts val="800"/>
              </a:spcAft>
              <a:defRPr sz="1100">
                <a:solidFill>
                  <a:srgbClr val="475569"/>
                </a:solidFill>
                <a:latin typeface="Calibri"/>
              </a:defRPr>
            </a:pPr>
            <a:r>
              <a:t>  Multi-tablet management tracking hardware health, memory pressure, and delta sync versions across plants.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4114800" cy="457200"/>
          </a:xfrm>
          <a:prstGeom prst="rect">
            <a:avLst/>
          </a:prstGeom>
          <a:noFill/>
        </p:spPr>
        <p:txBody>
          <a:bodyPr wrap="square">
            <a:spAutoFit/>
          </a:bodyPr>
          <a:lstStyle/>
          <a:p>
            <a:pPr>
              <a:defRPr sz="1500" b="1">
                <a:solidFill>
                  <a:srgbClr val="0F172A"/>
                </a:solidFill>
                <a:latin typeface="Segoe UI"/>
              </a:defRPr>
            </a:pPr>
            <a:r>
              <a:t>🏭 PlantMind Edge  </a:t>
            </a:r>
            <a:r>
              <a:rPr sz="1100" b="1">
                <a:solidFill>
                  <a:srgbClr val="D97706"/>
                </a:solidFill>
                <a:latin typeface="Calibri"/>
              </a:rPr>
              <a:t>[ Qdrant Hackathon ]</a:t>
            </a:r>
          </a:p>
        </p:txBody>
      </p:sp>
      <p:sp>
        <p:nvSpPr>
          <p:cNvPr id="4" name="TextBox 3"/>
          <p:cNvSpPr txBox="1"/>
          <p:nvPr/>
        </p:nvSpPr>
        <p:spPr>
          <a:xfrm>
            <a:off x="4572000" y="164592"/>
            <a:ext cx="3657600" cy="411480"/>
          </a:xfrm>
          <a:prstGeom prst="rect">
            <a:avLst/>
          </a:prstGeom>
          <a:noFill/>
        </p:spPr>
        <p:txBody>
          <a:bodyPr wrap="none">
            <a:spAutoFit/>
          </a:bodyPr>
          <a:lstStyle/>
          <a:p>
            <a:pPr algn="ctr">
              <a:defRPr sz="1100">
                <a:solidFill>
                  <a:srgbClr val="475569"/>
                </a:solidFill>
                <a:latin typeface="Calibri"/>
              </a:defRPr>
            </a:pPr>
            <a:r>
              <a:t>Executive Product Showcase</a:t>
            </a:r>
          </a:p>
        </p:txBody>
      </p:sp>
      <p:sp>
        <p:nvSpPr>
          <p:cNvPr id="5" name="TextBox 4"/>
          <p:cNvSpPr txBox="1"/>
          <p:nvPr/>
        </p:nvSpPr>
        <p:spPr>
          <a:xfrm>
            <a:off x="8412480" y="164592"/>
            <a:ext cx="3200400" cy="411480"/>
          </a:xfrm>
          <a:prstGeom prst="rect">
            <a:avLst/>
          </a:prstGeom>
          <a:noFill/>
        </p:spPr>
        <p:txBody>
          <a:bodyPr wrap="none">
            <a:spAutoFit/>
          </a:bodyPr>
          <a:lstStyle/>
          <a:p>
            <a:pPr algn="r">
              <a:defRPr sz="1100" b="1">
                <a:solidFill>
                  <a:srgbClr val="475569"/>
                </a:solidFill>
                <a:latin typeface="Calibri"/>
              </a:defRPr>
            </a:pPr>
            <a:r>
              <a:t>🎙️ Indian English | Slide 04 / 08</a:t>
            </a:r>
          </a:p>
        </p:txBody>
      </p:sp>
      <p:sp>
        <p:nvSpPr>
          <p:cNvPr id="6" name="TextBox 5"/>
          <p:cNvSpPr txBox="1"/>
          <p:nvPr/>
        </p:nvSpPr>
        <p:spPr>
          <a:xfrm>
            <a:off x="731520" y="868680"/>
            <a:ext cx="10515600" cy="320040"/>
          </a:xfrm>
          <a:prstGeom prst="rect">
            <a:avLst/>
          </a:prstGeom>
          <a:noFill/>
        </p:spPr>
        <p:txBody>
          <a:bodyPr wrap="none">
            <a:spAutoFit/>
          </a:bodyPr>
          <a:lstStyle/>
          <a:p>
            <a:pPr>
              <a:defRPr sz="1000" b="1">
                <a:solidFill>
                  <a:srgbClr val="D97706"/>
                </a:solidFill>
                <a:latin typeface="Segoe UI"/>
              </a:defRPr>
            </a:pPr>
            <a:r>
              <a:t>LIVE DEMONSTRATION 01</a:t>
            </a:r>
          </a:p>
        </p:txBody>
      </p:sp>
      <p:sp>
        <p:nvSpPr>
          <p:cNvPr id="7" name="TextBox 6"/>
          <p:cNvSpPr txBox="1"/>
          <p:nvPr/>
        </p:nvSpPr>
        <p:spPr>
          <a:xfrm>
            <a:off x="731520" y="1115568"/>
            <a:ext cx="10515600" cy="594360"/>
          </a:xfrm>
          <a:prstGeom prst="rect">
            <a:avLst/>
          </a:prstGeom>
          <a:noFill/>
        </p:spPr>
        <p:txBody>
          <a:bodyPr wrap="none">
            <a:spAutoFit/>
          </a:bodyPr>
          <a:lstStyle/>
          <a:p>
            <a:pPr>
              <a:defRPr sz="2600" b="1">
                <a:solidFill>
                  <a:srgbClr val="0F172A"/>
                </a:solidFill>
                <a:latin typeface="Segoe UI"/>
              </a:defRPr>
            </a:pPr>
            <a:r>
              <a:t>Sub-150ms Offline Semantic Search</a:t>
            </a:r>
          </a:p>
        </p:txBody>
      </p:sp>
      <p:sp>
        <p:nvSpPr>
          <p:cNvPr id="8" name="TextBox 7"/>
          <p:cNvSpPr txBox="1"/>
          <p:nvPr/>
        </p:nvSpPr>
        <p:spPr>
          <a:xfrm>
            <a:off x="731520" y="1691640"/>
            <a:ext cx="10515600" cy="411480"/>
          </a:xfrm>
          <a:prstGeom prst="rect">
            <a:avLst/>
          </a:prstGeom>
          <a:noFill/>
        </p:spPr>
        <p:txBody>
          <a:bodyPr wrap="none">
            <a:spAutoFit/>
          </a:bodyPr>
          <a:lstStyle/>
          <a:p>
            <a:pPr>
              <a:defRPr sz="1300">
                <a:solidFill>
                  <a:srgbClr val="475569"/>
                </a:solidFill>
                <a:latin typeface="Calibri"/>
              </a:defRPr>
            </a:pPr>
            <a:r>
              <a:t>Tested in isolated Airplane Mode: Instant retrieval of Dave Miller's tribal workaround.</a:t>
            </a:r>
          </a:p>
        </p:txBody>
      </p:sp>
      <p:pic>
        <p:nvPicPr>
          <p:cNvPr id="9" name="Picture 8" descr="01_offline_search.png"/>
          <p:cNvPicPr>
            <a:picLocks noChangeAspect="1"/>
          </p:cNvPicPr>
          <p:nvPr/>
        </p:nvPicPr>
        <p:blipFill>
          <a:blip r:embed="rId2"/>
          <a:stretch>
            <a:fillRect/>
          </a:stretch>
        </p:blipFill>
        <p:spPr>
          <a:xfrm>
            <a:off x="731520" y="2240280"/>
            <a:ext cx="6583680" cy="4389120"/>
          </a:xfrm>
          <a:prstGeom prst="rect">
            <a:avLst/>
          </a:prstGeom>
        </p:spPr>
      </p:pic>
      <p:sp>
        <p:nvSpPr>
          <p:cNvPr id="10" name="Rounded Rectangle 9"/>
          <p:cNvSpPr/>
          <p:nvPr/>
        </p:nvSpPr>
        <p:spPr>
          <a:xfrm>
            <a:off x="7589520" y="2240280"/>
            <a:ext cx="38404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20" y="2468880"/>
            <a:ext cx="3383280" cy="3474720"/>
          </a:xfrm>
          <a:prstGeom prst="rect">
            <a:avLst/>
          </a:prstGeom>
          <a:noFill/>
        </p:spPr>
        <p:txBody>
          <a:bodyPr wrap="square">
            <a:spAutoFit/>
          </a:bodyPr>
          <a:lstStyle/>
          <a:p>
            <a:pPr>
              <a:spcAft>
                <a:spcPts val="1400"/>
              </a:spcAft>
              <a:defRPr sz="1800" b="1">
                <a:solidFill>
                  <a:srgbClr val="0F172A"/>
                </a:solidFill>
                <a:latin typeface="Segoe UI"/>
              </a:defRPr>
            </a:pPr>
            <a:r>
              <a:t>Key Verification Proofs</a:t>
            </a:r>
          </a:p>
          <a:p>
            <a:pPr>
              <a:defRPr sz="1300" b="1">
                <a:solidFill>
                  <a:srgbClr val="DC2626"/>
                </a:solidFill>
                <a:latin typeface="Segoe UI"/>
              </a:defRPr>
            </a:pPr>
            <a:r>
              <a:t>✓ Strict Airplane Mode Active</a:t>
            </a:r>
          </a:p>
          <a:p>
            <a:pPr>
              <a:spcAft>
                <a:spcPts val="1000"/>
              </a:spcAft>
              <a:defRPr sz="1100">
                <a:solidFill>
                  <a:srgbClr val="475569"/>
                </a:solidFill>
                <a:latin typeface="Calibri"/>
              </a:defRPr>
            </a:pPr>
            <a:r>
              <a:t>   Tablet operates in 100% network isolation with zero cloud or cellular dependencies.</a:t>
            </a:r>
          </a:p>
          <a:p>
            <a:pPr>
              <a:defRPr sz="1300" b="1">
                <a:solidFill>
                  <a:srgbClr val="D97706"/>
                </a:solidFill>
                <a:latin typeface="Segoe UI"/>
              </a:defRPr>
            </a:pPr>
            <a:r>
              <a:t>✓ 133ms Retrieval Latency</a:t>
            </a:r>
          </a:p>
          <a:p>
            <a:pPr>
              <a:spcAft>
                <a:spcPts val="1000"/>
              </a:spcAft>
              <a:defRPr sz="1100">
                <a:solidFill>
                  <a:srgbClr val="475569"/>
                </a:solidFill>
                <a:latin typeface="Calibri"/>
              </a:defRPr>
            </a:pPr>
            <a:r>
              <a:t>   Vector search executes comfortably under the strict 150ms edge latency budget.</a:t>
            </a:r>
          </a:p>
          <a:p>
            <a:pPr>
              <a:defRPr sz="1300" b="1">
                <a:solidFill>
                  <a:srgbClr val="059669"/>
                </a:solidFill>
                <a:latin typeface="Segoe UI"/>
              </a:defRPr>
            </a:pPr>
            <a:r>
              <a:t>✓ 0.94 Semantic Match</a:t>
            </a:r>
          </a:p>
          <a:p>
            <a:pPr>
              <a:spcAft>
                <a:spcPts val="1000"/>
              </a:spcAft>
              <a:defRPr sz="1100">
                <a:solidFill>
                  <a:srgbClr val="475569"/>
                </a:solidFill>
                <a:latin typeface="Calibri"/>
              </a:defRPr>
            </a:pPr>
            <a:r>
              <a:t>   Top rank delivers Dave Miller's Viton bypass seal workaround in Bin 14, saving 3.8 hours of downtime.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4114800" cy="457200"/>
          </a:xfrm>
          <a:prstGeom prst="rect">
            <a:avLst/>
          </a:prstGeom>
          <a:noFill/>
        </p:spPr>
        <p:txBody>
          <a:bodyPr wrap="square">
            <a:spAutoFit/>
          </a:bodyPr>
          <a:lstStyle/>
          <a:p>
            <a:pPr>
              <a:defRPr sz="1500" b="1">
                <a:solidFill>
                  <a:srgbClr val="0F172A"/>
                </a:solidFill>
                <a:latin typeface="Segoe UI"/>
              </a:defRPr>
            </a:pPr>
            <a:r>
              <a:t>🏭 PlantMind Edge  </a:t>
            </a:r>
            <a:r>
              <a:rPr sz="1100" b="1">
                <a:solidFill>
                  <a:srgbClr val="D97706"/>
                </a:solidFill>
                <a:latin typeface="Calibri"/>
              </a:rPr>
              <a:t>[ Qdrant Hackathon ]</a:t>
            </a:r>
          </a:p>
        </p:txBody>
      </p:sp>
      <p:sp>
        <p:nvSpPr>
          <p:cNvPr id="4" name="TextBox 3"/>
          <p:cNvSpPr txBox="1"/>
          <p:nvPr/>
        </p:nvSpPr>
        <p:spPr>
          <a:xfrm>
            <a:off x="4572000" y="164592"/>
            <a:ext cx="3657600" cy="411480"/>
          </a:xfrm>
          <a:prstGeom prst="rect">
            <a:avLst/>
          </a:prstGeom>
          <a:noFill/>
        </p:spPr>
        <p:txBody>
          <a:bodyPr wrap="none">
            <a:spAutoFit/>
          </a:bodyPr>
          <a:lstStyle/>
          <a:p>
            <a:pPr algn="ctr">
              <a:defRPr sz="1100">
                <a:solidFill>
                  <a:srgbClr val="475569"/>
                </a:solidFill>
                <a:latin typeface="Calibri"/>
              </a:defRPr>
            </a:pPr>
            <a:r>
              <a:t>Executive Product Showcase</a:t>
            </a:r>
          </a:p>
        </p:txBody>
      </p:sp>
      <p:sp>
        <p:nvSpPr>
          <p:cNvPr id="5" name="TextBox 4"/>
          <p:cNvSpPr txBox="1"/>
          <p:nvPr/>
        </p:nvSpPr>
        <p:spPr>
          <a:xfrm>
            <a:off x="8412480" y="164592"/>
            <a:ext cx="3200400" cy="411480"/>
          </a:xfrm>
          <a:prstGeom prst="rect">
            <a:avLst/>
          </a:prstGeom>
          <a:noFill/>
        </p:spPr>
        <p:txBody>
          <a:bodyPr wrap="none">
            <a:spAutoFit/>
          </a:bodyPr>
          <a:lstStyle/>
          <a:p>
            <a:pPr algn="r">
              <a:defRPr sz="1100" b="1">
                <a:solidFill>
                  <a:srgbClr val="475569"/>
                </a:solidFill>
                <a:latin typeface="Calibri"/>
              </a:defRPr>
            </a:pPr>
            <a:r>
              <a:t>🎙️ Indian English | Slide 05 / 08</a:t>
            </a:r>
          </a:p>
        </p:txBody>
      </p:sp>
      <p:sp>
        <p:nvSpPr>
          <p:cNvPr id="6" name="TextBox 5"/>
          <p:cNvSpPr txBox="1"/>
          <p:nvPr/>
        </p:nvSpPr>
        <p:spPr>
          <a:xfrm>
            <a:off x="731520" y="868680"/>
            <a:ext cx="10515600" cy="320040"/>
          </a:xfrm>
          <a:prstGeom prst="rect">
            <a:avLst/>
          </a:prstGeom>
          <a:noFill/>
        </p:spPr>
        <p:txBody>
          <a:bodyPr wrap="none">
            <a:spAutoFit/>
          </a:bodyPr>
          <a:lstStyle/>
          <a:p>
            <a:pPr>
              <a:defRPr sz="1000" b="1">
                <a:solidFill>
                  <a:srgbClr val="D97706"/>
                </a:solidFill>
                <a:latin typeface="Segoe UI"/>
              </a:defRPr>
            </a:pPr>
            <a:r>
              <a:t>LIVE DEMONSTRATION 02</a:t>
            </a:r>
          </a:p>
        </p:txBody>
      </p:sp>
      <p:sp>
        <p:nvSpPr>
          <p:cNvPr id="7" name="TextBox 6"/>
          <p:cNvSpPr txBox="1"/>
          <p:nvPr/>
        </p:nvSpPr>
        <p:spPr>
          <a:xfrm>
            <a:off x="731520" y="1115568"/>
            <a:ext cx="10515600" cy="594360"/>
          </a:xfrm>
          <a:prstGeom prst="rect">
            <a:avLst/>
          </a:prstGeom>
          <a:noFill/>
        </p:spPr>
        <p:txBody>
          <a:bodyPr wrap="none">
            <a:spAutoFit/>
          </a:bodyPr>
          <a:lstStyle/>
          <a:p>
            <a:pPr>
              <a:defRPr sz="2600" b="1">
                <a:solidFill>
                  <a:srgbClr val="0F172A"/>
                </a:solidFill>
                <a:latin typeface="Segoe UI"/>
              </a:defRPr>
            </a:pPr>
            <a:r>
              <a:t>On-Floor Capture &amp; Deliberate Data Policy</a:t>
            </a:r>
          </a:p>
        </p:txBody>
      </p:sp>
      <p:sp>
        <p:nvSpPr>
          <p:cNvPr id="8" name="TextBox 7"/>
          <p:cNvSpPr txBox="1"/>
          <p:nvPr/>
        </p:nvSpPr>
        <p:spPr>
          <a:xfrm>
            <a:off x="731520" y="1691640"/>
            <a:ext cx="10515600" cy="411480"/>
          </a:xfrm>
          <a:prstGeom prst="rect">
            <a:avLst/>
          </a:prstGeom>
          <a:noFill/>
        </p:spPr>
        <p:txBody>
          <a:bodyPr wrap="none">
            <a:spAutoFit/>
          </a:bodyPr>
          <a:lstStyle/>
          <a:p>
            <a:pPr>
              <a:defRPr sz="1300">
                <a:solidFill>
                  <a:srgbClr val="475569"/>
                </a:solidFill>
                <a:latin typeface="Calibri"/>
              </a:defRPr>
            </a:pPr>
            <a:r>
              <a:t>Capturing observations instantly while giving technicians control over what syncs.</a:t>
            </a:r>
          </a:p>
        </p:txBody>
      </p:sp>
      <p:pic>
        <p:nvPicPr>
          <p:cNvPr id="9" name="Picture 8" descr="02_append_only_write.png"/>
          <p:cNvPicPr>
            <a:picLocks noChangeAspect="1"/>
          </p:cNvPicPr>
          <p:nvPr/>
        </p:nvPicPr>
        <p:blipFill>
          <a:blip r:embed="rId2"/>
          <a:stretch>
            <a:fillRect/>
          </a:stretch>
        </p:blipFill>
        <p:spPr>
          <a:xfrm>
            <a:off x="731520" y="2240280"/>
            <a:ext cx="6583680" cy="4389120"/>
          </a:xfrm>
          <a:prstGeom prst="rect">
            <a:avLst/>
          </a:prstGeom>
        </p:spPr>
      </p:pic>
      <p:sp>
        <p:nvSpPr>
          <p:cNvPr id="10" name="Rounded Rectangle 9"/>
          <p:cNvSpPr/>
          <p:nvPr/>
        </p:nvSpPr>
        <p:spPr>
          <a:xfrm>
            <a:off x="7589520" y="2240280"/>
            <a:ext cx="38404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20" y="2468880"/>
            <a:ext cx="3383280" cy="3474720"/>
          </a:xfrm>
          <a:prstGeom prst="rect">
            <a:avLst/>
          </a:prstGeom>
          <a:noFill/>
        </p:spPr>
        <p:txBody>
          <a:bodyPr wrap="square">
            <a:spAutoFit/>
          </a:bodyPr>
          <a:lstStyle/>
          <a:p>
            <a:pPr>
              <a:spcAft>
                <a:spcPts val="1400"/>
              </a:spcAft>
              <a:defRPr sz="1800" b="1">
                <a:solidFill>
                  <a:srgbClr val="0F172A"/>
                </a:solidFill>
                <a:latin typeface="Segoe UI"/>
              </a:defRPr>
            </a:pPr>
            <a:r>
              <a:t>Sovereignty by Design</a:t>
            </a:r>
          </a:p>
          <a:p>
            <a:pPr>
              <a:defRPr sz="1300" b="1">
                <a:solidFill>
                  <a:srgbClr val="D97706"/>
                </a:solidFill>
                <a:latin typeface="Segoe UI"/>
              </a:defRPr>
            </a:pPr>
            <a:r>
              <a:t>✓ Immutable Local Sequence Log</a:t>
            </a:r>
          </a:p>
          <a:p>
            <a:pPr>
              <a:spcAft>
                <a:spcPts val="1000"/>
              </a:spcAft>
              <a:defRPr sz="1100">
                <a:solidFill>
                  <a:srgbClr val="475569"/>
                </a:solidFill>
                <a:latin typeface="Calibri"/>
              </a:defRPr>
            </a:pPr>
            <a:r>
              <a:t>   Every observation receives a sequence counter (#1042) ensuring an untampered audit trail.</a:t>
            </a:r>
          </a:p>
          <a:p>
            <a:pPr>
              <a:defRPr sz="1300" b="1">
                <a:solidFill>
                  <a:srgbClr val="2563EB"/>
                </a:solidFill>
                <a:latin typeface="Segoe UI"/>
              </a:defRPr>
            </a:pPr>
            <a:r>
              <a:t>✓ 'Keep Local Until Reviewed' Flag</a:t>
            </a:r>
          </a:p>
          <a:p>
            <a:pPr>
              <a:spcAft>
                <a:spcPts val="1000"/>
              </a:spcAft>
              <a:defRPr sz="1100">
                <a:solidFill>
                  <a:srgbClr val="475569"/>
                </a:solidFill>
                <a:latin typeface="Calibri"/>
              </a:defRPr>
            </a:pPr>
            <a:r>
              <a:t>   Unverified or experimental notes remain strictly on-device until peer review is complete.</a:t>
            </a:r>
          </a:p>
          <a:p>
            <a:pPr>
              <a:defRPr sz="1300" b="1">
                <a:solidFill>
                  <a:srgbClr val="059669"/>
                </a:solidFill>
                <a:latin typeface="Segoe UI"/>
              </a:defRPr>
            </a:pPr>
            <a:r>
              <a:t>✓ Immediate Vector Indexing</a:t>
            </a:r>
          </a:p>
          <a:p>
            <a:pPr>
              <a:spcAft>
                <a:spcPts val="1000"/>
              </a:spcAft>
              <a:defRPr sz="1100">
                <a:solidFill>
                  <a:srgbClr val="475569"/>
                </a:solidFill>
                <a:latin typeface="Calibri"/>
              </a:defRPr>
            </a:pPr>
            <a:r>
              <a:t>   New observations are embedded on-device and searchable locally in 0 seconds with zero lag.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4114800" cy="457200"/>
          </a:xfrm>
          <a:prstGeom prst="rect">
            <a:avLst/>
          </a:prstGeom>
          <a:noFill/>
        </p:spPr>
        <p:txBody>
          <a:bodyPr wrap="square">
            <a:spAutoFit/>
          </a:bodyPr>
          <a:lstStyle/>
          <a:p>
            <a:pPr>
              <a:defRPr sz="1500" b="1">
                <a:solidFill>
                  <a:srgbClr val="0F172A"/>
                </a:solidFill>
                <a:latin typeface="Segoe UI"/>
              </a:defRPr>
            </a:pPr>
            <a:r>
              <a:t>🏭 PlantMind Edge  </a:t>
            </a:r>
            <a:r>
              <a:rPr sz="1100" b="1">
                <a:solidFill>
                  <a:srgbClr val="D97706"/>
                </a:solidFill>
                <a:latin typeface="Calibri"/>
              </a:rPr>
              <a:t>[ Qdrant Hackathon ]</a:t>
            </a:r>
          </a:p>
        </p:txBody>
      </p:sp>
      <p:sp>
        <p:nvSpPr>
          <p:cNvPr id="4" name="TextBox 3"/>
          <p:cNvSpPr txBox="1"/>
          <p:nvPr/>
        </p:nvSpPr>
        <p:spPr>
          <a:xfrm>
            <a:off x="4572000" y="164592"/>
            <a:ext cx="3657600" cy="411480"/>
          </a:xfrm>
          <a:prstGeom prst="rect">
            <a:avLst/>
          </a:prstGeom>
          <a:noFill/>
        </p:spPr>
        <p:txBody>
          <a:bodyPr wrap="none">
            <a:spAutoFit/>
          </a:bodyPr>
          <a:lstStyle/>
          <a:p>
            <a:pPr algn="ctr">
              <a:defRPr sz="1100">
                <a:solidFill>
                  <a:srgbClr val="475569"/>
                </a:solidFill>
                <a:latin typeface="Calibri"/>
              </a:defRPr>
            </a:pPr>
            <a:r>
              <a:t>Executive Product Showcase</a:t>
            </a:r>
          </a:p>
        </p:txBody>
      </p:sp>
      <p:sp>
        <p:nvSpPr>
          <p:cNvPr id="5" name="TextBox 4"/>
          <p:cNvSpPr txBox="1"/>
          <p:nvPr/>
        </p:nvSpPr>
        <p:spPr>
          <a:xfrm>
            <a:off x="8412480" y="164592"/>
            <a:ext cx="3200400" cy="411480"/>
          </a:xfrm>
          <a:prstGeom prst="rect">
            <a:avLst/>
          </a:prstGeom>
          <a:noFill/>
        </p:spPr>
        <p:txBody>
          <a:bodyPr wrap="none">
            <a:spAutoFit/>
          </a:bodyPr>
          <a:lstStyle/>
          <a:p>
            <a:pPr algn="r">
              <a:defRPr sz="1100" b="1">
                <a:solidFill>
                  <a:srgbClr val="475569"/>
                </a:solidFill>
                <a:latin typeface="Calibri"/>
              </a:defRPr>
            </a:pPr>
            <a:r>
              <a:t>🎙️ Indian English | Slide 06 / 08</a:t>
            </a:r>
          </a:p>
        </p:txBody>
      </p:sp>
      <p:sp>
        <p:nvSpPr>
          <p:cNvPr id="6" name="TextBox 5"/>
          <p:cNvSpPr txBox="1"/>
          <p:nvPr/>
        </p:nvSpPr>
        <p:spPr>
          <a:xfrm>
            <a:off x="731520" y="868680"/>
            <a:ext cx="10515600" cy="320040"/>
          </a:xfrm>
          <a:prstGeom prst="rect">
            <a:avLst/>
          </a:prstGeom>
          <a:noFill/>
        </p:spPr>
        <p:txBody>
          <a:bodyPr wrap="none">
            <a:spAutoFit/>
          </a:bodyPr>
          <a:lstStyle/>
          <a:p>
            <a:pPr>
              <a:defRPr sz="1000" b="1">
                <a:solidFill>
                  <a:srgbClr val="D97706"/>
                </a:solidFill>
                <a:latin typeface="Segoe UI"/>
              </a:defRPr>
            </a:pPr>
            <a:r>
              <a:t>DEVICE ENGINEERING</a:t>
            </a:r>
          </a:p>
        </p:txBody>
      </p:sp>
      <p:sp>
        <p:nvSpPr>
          <p:cNvPr id="7" name="TextBox 6"/>
          <p:cNvSpPr txBox="1"/>
          <p:nvPr/>
        </p:nvSpPr>
        <p:spPr>
          <a:xfrm>
            <a:off x="731520" y="1115568"/>
            <a:ext cx="10515600" cy="594360"/>
          </a:xfrm>
          <a:prstGeom prst="rect">
            <a:avLst/>
          </a:prstGeom>
          <a:noFill/>
        </p:spPr>
        <p:txBody>
          <a:bodyPr wrap="none">
            <a:spAutoFit/>
          </a:bodyPr>
          <a:lstStyle/>
          <a:p>
            <a:pPr>
              <a:defRPr sz="2600" b="1">
                <a:solidFill>
                  <a:srgbClr val="0F172A"/>
                </a:solidFill>
                <a:latin typeface="Segoe UI"/>
              </a:defRPr>
            </a:pPr>
            <a:r>
              <a:t>Constrained Device Memory Inspector</a:t>
            </a:r>
          </a:p>
        </p:txBody>
      </p:sp>
      <p:sp>
        <p:nvSpPr>
          <p:cNvPr id="8" name="TextBox 7"/>
          <p:cNvSpPr txBox="1"/>
          <p:nvPr/>
        </p:nvSpPr>
        <p:spPr>
          <a:xfrm>
            <a:off x="731520" y="1691640"/>
            <a:ext cx="10515600" cy="411480"/>
          </a:xfrm>
          <a:prstGeom prst="rect">
            <a:avLst/>
          </a:prstGeom>
          <a:noFill/>
        </p:spPr>
        <p:txBody>
          <a:bodyPr wrap="none">
            <a:spAutoFit/>
          </a:bodyPr>
          <a:lstStyle/>
          <a:p>
            <a:pPr>
              <a:defRPr sz="1300">
                <a:solidFill>
                  <a:srgbClr val="475569"/>
                </a:solidFill>
                <a:latin typeface="Calibri"/>
              </a:defRPr>
            </a:pPr>
            <a:r>
              <a:t>Operating safely inside strict 1GB RAM ceilings with automated TTL retention policies.</a:t>
            </a:r>
          </a:p>
        </p:txBody>
      </p:sp>
      <p:pic>
        <p:nvPicPr>
          <p:cNvPr id="9" name="Picture 8" descr="03_device_memory_inspector.png"/>
          <p:cNvPicPr>
            <a:picLocks noChangeAspect="1"/>
          </p:cNvPicPr>
          <p:nvPr/>
        </p:nvPicPr>
        <p:blipFill>
          <a:blip r:embed="rId2"/>
          <a:stretch>
            <a:fillRect/>
          </a:stretch>
        </p:blipFill>
        <p:spPr>
          <a:xfrm>
            <a:off x="731520" y="2240280"/>
            <a:ext cx="6583680" cy="4389120"/>
          </a:xfrm>
          <a:prstGeom prst="rect">
            <a:avLst/>
          </a:prstGeom>
        </p:spPr>
      </p:pic>
      <p:sp>
        <p:nvSpPr>
          <p:cNvPr id="10" name="Rounded Rectangle 9"/>
          <p:cNvSpPr/>
          <p:nvPr/>
        </p:nvSpPr>
        <p:spPr>
          <a:xfrm>
            <a:off x="7589520" y="2240280"/>
            <a:ext cx="38404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20" y="2468880"/>
            <a:ext cx="3383280" cy="3474720"/>
          </a:xfrm>
          <a:prstGeom prst="rect">
            <a:avLst/>
          </a:prstGeom>
          <a:noFill/>
        </p:spPr>
        <p:txBody>
          <a:bodyPr wrap="square">
            <a:spAutoFit/>
          </a:bodyPr>
          <a:lstStyle/>
          <a:p>
            <a:pPr>
              <a:spcAft>
                <a:spcPts val="1400"/>
              </a:spcAft>
              <a:defRPr sz="1800" b="1">
                <a:solidFill>
                  <a:srgbClr val="0F172A"/>
                </a:solidFill>
                <a:latin typeface="Segoe UI"/>
              </a:defRPr>
            </a:pPr>
            <a:r>
              <a:t>Embedded Footprint Metrics</a:t>
            </a:r>
          </a:p>
          <a:p>
            <a:pPr>
              <a:defRPr sz="1300" b="1">
                <a:solidFill>
                  <a:srgbClr val="059669"/>
                </a:solidFill>
                <a:latin typeface="Segoe UI"/>
              </a:defRPr>
            </a:pPr>
            <a:r>
              <a:t>✓ 184 MB / 1024 MB RAM (18% Usage)</a:t>
            </a:r>
          </a:p>
          <a:p>
            <a:pPr>
              <a:spcAft>
                <a:spcPts val="1000"/>
              </a:spcAft>
              <a:defRPr sz="1100">
                <a:solidFill>
                  <a:srgbClr val="475569"/>
                </a:solidFill>
                <a:latin typeface="Calibri"/>
              </a:defRPr>
            </a:pPr>
            <a:r>
              <a:t>   Lightweight footprint leaves ample headroom for diagnostics and host operating systems.</a:t>
            </a:r>
          </a:p>
          <a:p>
            <a:pPr>
              <a:defRPr sz="1300" b="1">
                <a:solidFill>
                  <a:srgbClr val="2563EB"/>
                </a:solidFill>
                <a:latin typeface="Segoe UI"/>
              </a:defRPr>
            </a:pPr>
            <a:r>
              <a:t>✓ 14.2 MB Disk Storage</a:t>
            </a:r>
          </a:p>
          <a:p>
            <a:pPr>
              <a:spcAft>
                <a:spcPts val="1000"/>
              </a:spcAft>
              <a:defRPr sz="1100">
                <a:solidFill>
                  <a:srgbClr val="475569"/>
                </a:solidFill>
                <a:latin typeface="Calibri"/>
              </a:defRPr>
            </a:pPr>
            <a:r>
              <a:t>   Quantized vectors and compact payload storage protect flash memory from write fatigue.</a:t>
            </a:r>
          </a:p>
          <a:p>
            <a:pPr>
              <a:defRPr sz="1300" b="1">
                <a:solidFill>
                  <a:srgbClr val="D97706"/>
                </a:solidFill>
                <a:latin typeface="Segoe UI"/>
              </a:defRPr>
            </a:pPr>
            <a:r>
              <a:t>✓ Automated TTL Retention Engine</a:t>
            </a:r>
          </a:p>
          <a:p>
            <a:pPr>
              <a:spcAft>
                <a:spcPts val="1000"/>
              </a:spcAft>
              <a:defRPr sz="1100">
                <a:solidFill>
                  <a:srgbClr val="475569"/>
                </a:solidFill>
                <a:latin typeface="Calibri"/>
              </a:defRPr>
            </a:pPr>
            <a:r>
              <a:t>   Points older than 90 days are automatically summarized or evicted, eliminating OOM crashes forever.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4114800" cy="457200"/>
          </a:xfrm>
          <a:prstGeom prst="rect">
            <a:avLst/>
          </a:prstGeom>
          <a:noFill/>
        </p:spPr>
        <p:txBody>
          <a:bodyPr wrap="square">
            <a:spAutoFit/>
          </a:bodyPr>
          <a:lstStyle/>
          <a:p>
            <a:pPr>
              <a:defRPr sz="1500" b="1">
                <a:solidFill>
                  <a:srgbClr val="0F172A"/>
                </a:solidFill>
                <a:latin typeface="Segoe UI"/>
              </a:defRPr>
            </a:pPr>
            <a:r>
              <a:t>🏭 PlantMind Edge  </a:t>
            </a:r>
            <a:r>
              <a:rPr sz="1100" b="1">
                <a:solidFill>
                  <a:srgbClr val="D97706"/>
                </a:solidFill>
                <a:latin typeface="Calibri"/>
              </a:rPr>
              <a:t>[ Qdrant Hackathon ]</a:t>
            </a:r>
          </a:p>
        </p:txBody>
      </p:sp>
      <p:sp>
        <p:nvSpPr>
          <p:cNvPr id="4" name="TextBox 3"/>
          <p:cNvSpPr txBox="1"/>
          <p:nvPr/>
        </p:nvSpPr>
        <p:spPr>
          <a:xfrm>
            <a:off x="4572000" y="164592"/>
            <a:ext cx="3657600" cy="411480"/>
          </a:xfrm>
          <a:prstGeom prst="rect">
            <a:avLst/>
          </a:prstGeom>
          <a:noFill/>
        </p:spPr>
        <p:txBody>
          <a:bodyPr wrap="none">
            <a:spAutoFit/>
          </a:bodyPr>
          <a:lstStyle/>
          <a:p>
            <a:pPr algn="ctr">
              <a:defRPr sz="1100">
                <a:solidFill>
                  <a:srgbClr val="475569"/>
                </a:solidFill>
                <a:latin typeface="Calibri"/>
              </a:defRPr>
            </a:pPr>
            <a:r>
              <a:t>Executive Product Showcase</a:t>
            </a:r>
          </a:p>
        </p:txBody>
      </p:sp>
      <p:sp>
        <p:nvSpPr>
          <p:cNvPr id="5" name="TextBox 4"/>
          <p:cNvSpPr txBox="1"/>
          <p:nvPr/>
        </p:nvSpPr>
        <p:spPr>
          <a:xfrm>
            <a:off x="8412480" y="164592"/>
            <a:ext cx="3200400" cy="411480"/>
          </a:xfrm>
          <a:prstGeom prst="rect">
            <a:avLst/>
          </a:prstGeom>
          <a:noFill/>
        </p:spPr>
        <p:txBody>
          <a:bodyPr wrap="none">
            <a:spAutoFit/>
          </a:bodyPr>
          <a:lstStyle/>
          <a:p>
            <a:pPr algn="r">
              <a:defRPr sz="1100" b="1">
                <a:solidFill>
                  <a:srgbClr val="475569"/>
                </a:solidFill>
                <a:latin typeface="Calibri"/>
              </a:defRPr>
            </a:pPr>
            <a:r>
              <a:t>🎙️ Indian English | Slide 07 / 08</a:t>
            </a:r>
          </a:p>
        </p:txBody>
      </p:sp>
      <p:sp>
        <p:nvSpPr>
          <p:cNvPr id="6" name="TextBox 5"/>
          <p:cNvSpPr txBox="1"/>
          <p:nvPr/>
        </p:nvSpPr>
        <p:spPr>
          <a:xfrm>
            <a:off x="731520" y="868680"/>
            <a:ext cx="10515600" cy="320040"/>
          </a:xfrm>
          <a:prstGeom prst="rect">
            <a:avLst/>
          </a:prstGeom>
          <a:noFill/>
        </p:spPr>
        <p:txBody>
          <a:bodyPr wrap="none">
            <a:spAutoFit/>
          </a:bodyPr>
          <a:lstStyle/>
          <a:p>
            <a:pPr>
              <a:defRPr sz="1000" b="1">
                <a:solidFill>
                  <a:srgbClr val="D97706"/>
                </a:solidFill>
                <a:latin typeface="Segoe UI"/>
              </a:defRPr>
            </a:pPr>
            <a:r>
              <a:t>SAFETY CRITICAL ARCHITECTURE</a:t>
            </a:r>
          </a:p>
        </p:txBody>
      </p:sp>
      <p:sp>
        <p:nvSpPr>
          <p:cNvPr id="7" name="TextBox 6"/>
          <p:cNvSpPr txBox="1"/>
          <p:nvPr/>
        </p:nvSpPr>
        <p:spPr>
          <a:xfrm>
            <a:off x="731520" y="1115568"/>
            <a:ext cx="10515600" cy="594360"/>
          </a:xfrm>
          <a:prstGeom prst="rect">
            <a:avLst/>
          </a:prstGeom>
          <a:noFill/>
        </p:spPr>
        <p:txBody>
          <a:bodyPr wrap="none">
            <a:spAutoFit/>
          </a:bodyPr>
          <a:lstStyle/>
          <a:p>
            <a:pPr>
              <a:defRPr sz="2600" b="1">
                <a:solidFill>
                  <a:srgbClr val="0F172A"/>
                </a:solidFill>
                <a:latin typeface="Segoe UI"/>
              </a:defRPr>
            </a:pPr>
            <a:r>
              <a:t>Groq LLaMA: No Last-Write-Wins on Safety</a:t>
            </a:r>
          </a:p>
        </p:txBody>
      </p:sp>
      <p:sp>
        <p:nvSpPr>
          <p:cNvPr id="8" name="TextBox 7"/>
          <p:cNvSpPr txBox="1"/>
          <p:nvPr/>
        </p:nvSpPr>
        <p:spPr>
          <a:xfrm>
            <a:off x="731520" y="1691640"/>
            <a:ext cx="10515600" cy="411480"/>
          </a:xfrm>
          <a:prstGeom prst="rect">
            <a:avLst/>
          </a:prstGeom>
          <a:noFill/>
        </p:spPr>
        <p:txBody>
          <a:bodyPr wrap="none">
            <a:spAutoFit/>
          </a:bodyPr>
          <a:lstStyle/>
          <a:p>
            <a:pPr>
              <a:defRPr sz="1300">
                <a:solidFill>
                  <a:srgbClr val="475569"/>
                </a:solidFill>
                <a:latin typeface="Calibri"/>
              </a:defRPr>
            </a:pPr>
            <a:r>
              <a:t>Guarding human lives against silent database overwrites with AI risk reasoning.</a:t>
            </a:r>
          </a:p>
        </p:txBody>
      </p:sp>
      <p:pic>
        <p:nvPicPr>
          <p:cNvPr id="9" name="Picture 8" descr="04_conflict_reconciliation.png"/>
          <p:cNvPicPr>
            <a:picLocks noChangeAspect="1"/>
          </p:cNvPicPr>
          <p:nvPr/>
        </p:nvPicPr>
        <p:blipFill>
          <a:blip r:embed="rId2"/>
          <a:stretch>
            <a:fillRect/>
          </a:stretch>
        </p:blipFill>
        <p:spPr>
          <a:xfrm>
            <a:off x="731520" y="2240280"/>
            <a:ext cx="6583680" cy="4389120"/>
          </a:xfrm>
          <a:prstGeom prst="rect">
            <a:avLst/>
          </a:prstGeom>
        </p:spPr>
      </p:pic>
      <p:sp>
        <p:nvSpPr>
          <p:cNvPr id="10" name="Rounded Rectangle 9"/>
          <p:cNvSpPr/>
          <p:nvPr/>
        </p:nvSpPr>
        <p:spPr>
          <a:xfrm>
            <a:off x="7589520" y="2240280"/>
            <a:ext cx="3840480" cy="3931920"/>
          </a:xfrm>
          <a:prstGeom prst="round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20" y="2468880"/>
            <a:ext cx="3383280" cy="3474720"/>
          </a:xfrm>
          <a:prstGeom prst="rect">
            <a:avLst/>
          </a:prstGeom>
          <a:noFill/>
        </p:spPr>
        <p:txBody>
          <a:bodyPr wrap="square">
            <a:spAutoFit/>
          </a:bodyPr>
          <a:lstStyle/>
          <a:p>
            <a:pPr>
              <a:defRPr sz="1300" b="1">
                <a:solidFill>
                  <a:srgbClr val="DC2626"/>
                </a:solidFill>
                <a:latin typeface="Segoe UI"/>
              </a:defRPr>
            </a:pPr>
            <a:r>
              <a:t>⚠️ SAFETY PRINCIPLE</a:t>
            </a:r>
          </a:p>
          <a:p>
            <a:pPr>
              <a:spcAft>
                <a:spcPts val="1200"/>
              </a:spcAft>
              <a:defRPr sz="1400" b="1">
                <a:solidFill>
                  <a:srgbClr val="0F172A"/>
                </a:solidFill>
                <a:latin typeface="Segoe UI"/>
              </a:defRPr>
            </a:pPr>
            <a:r>
              <a:t>"Last-write-wins kills people on a factory floor."</a:t>
            </a:r>
          </a:p>
          <a:p>
            <a:pPr>
              <a:defRPr sz="1200" b="1">
                <a:solidFill>
                  <a:srgbClr val="DC2626"/>
                </a:solidFill>
                <a:latin typeface="Segoe UI"/>
              </a:defRPr>
            </a:pPr>
            <a:r>
              <a:t>• Omission Detected by LLaMA-3.3</a:t>
            </a:r>
          </a:p>
          <a:p>
            <a:pPr>
              <a:spcAft>
                <a:spcPts val="800"/>
              </a:spcAft>
              <a:defRPr sz="1100">
                <a:solidFill>
                  <a:srgbClr val="475569"/>
                </a:solidFill>
                <a:latin typeface="Calibri"/>
              </a:defRPr>
            </a:pPr>
            <a:r>
              <a:t>  Version B omitted the mandatory 10-minute cool-down cycle to rush tool changes.</a:t>
            </a:r>
          </a:p>
          <a:p>
            <a:pPr>
              <a:defRPr sz="1200" b="1">
                <a:solidFill>
                  <a:srgbClr val="D97706"/>
                </a:solidFill>
                <a:latin typeface="Segoe UI"/>
              </a:defRPr>
            </a:pPr>
            <a:r>
              <a:t>• Severe Hazard Warning</a:t>
            </a:r>
          </a:p>
          <a:p>
            <a:pPr>
              <a:spcAft>
                <a:spcPts val="800"/>
              </a:spcAft>
              <a:defRPr sz="1100">
                <a:solidFill>
                  <a:srgbClr val="475569"/>
                </a:solidFill>
                <a:latin typeface="Calibri"/>
              </a:defRPr>
            </a:pPr>
            <a:r>
              <a:t>  Identified risk of 500-bar hydraulic injection and flash fire hazard under hot manifold conditions.</a:t>
            </a:r>
          </a:p>
          <a:p>
            <a:pPr>
              <a:defRPr sz="1200" b="1">
                <a:solidFill>
                  <a:srgbClr val="059669"/>
                </a:solidFill>
                <a:latin typeface="Segoe UI"/>
              </a:defRPr>
            </a:pPr>
            <a:r>
              <a:t>• One-Click Human Reconciliation</a:t>
            </a:r>
          </a:p>
          <a:p>
            <a:pPr>
              <a:spcAft>
                <a:spcPts val="800"/>
              </a:spcAft>
              <a:defRPr sz="1100">
                <a:solidFill>
                  <a:srgbClr val="475569"/>
                </a:solidFill>
                <a:latin typeface="Calibri"/>
              </a:defRPr>
            </a:pPr>
            <a:r>
              <a:t>  Knowledge manager accepts Version A; standard instantly broadcasts across all plant edge tablets.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4114800" cy="457200"/>
          </a:xfrm>
          <a:prstGeom prst="rect">
            <a:avLst/>
          </a:prstGeom>
          <a:noFill/>
        </p:spPr>
        <p:txBody>
          <a:bodyPr wrap="square">
            <a:spAutoFit/>
          </a:bodyPr>
          <a:lstStyle/>
          <a:p>
            <a:pPr>
              <a:defRPr sz="1500" b="1">
                <a:solidFill>
                  <a:srgbClr val="0F172A"/>
                </a:solidFill>
                <a:latin typeface="Segoe UI"/>
              </a:defRPr>
            </a:pPr>
            <a:r>
              <a:t>🏭 PlantMind Edge  </a:t>
            </a:r>
            <a:r>
              <a:rPr sz="1100" b="1">
                <a:solidFill>
                  <a:srgbClr val="D97706"/>
                </a:solidFill>
                <a:latin typeface="Calibri"/>
              </a:rPr>
              <a:t>[ Qdrant Hackathon ]</a:t>
            </a:r>
          </a:p>
        </p:txBody>
      </p:sp>
      <p:sp>
        <p:nvSpPr>
          <p:cNvPr id="4" name="TextBox 3"/>
          <p:cNvSpPr txBox="1"/>
          <p:nvPr/>
        </p:nvSpPr>
        <p:spPr>
          <a:xfrm>
            <a:off x="4572000" y="164592"/>
            <a:ext cx="3657600" cy="411480"/>
          </a:xfrm>
          <a:prstGeom prst="rect">
            <a:avLst/>
          </a:prstGeom>
          <a:noFill/>
        </p:spPr>
        <p:txBody>
          <a:bodyPr wrap="none">
            <a:spAutoFit/>
          </a:bodyPr>
          <a:lstStyle/>
          <a:p>
            <a:pPr algn="ctr">
              <a:defRPr sz="1100">
                <a:solidFill>
                  <a:srgbClr val="475569"/>
                </a:solidFill>
                <a:latin typeface="Calibri"/>
              </a:defRPr>
            </a:pPr>
            <a:r>
              <a:t>Executive Product Showcase</a:t>
            </a:r>
          </a:p>
        </p:txBody>
      </p:sp>
      <p:sp>
        <p:nvSpPr>
          <p:cNvPr id="5" name="TextBox 4"/>
          <p:cNvSpPr txBox="1"/>
          <p:nvPr/>
        </p:nvSpPr>
        <p:spPr>
          <a:xfrm>
            <a:off x="8412480" y="164592"/>
            <a:ext cx="3200400" cy="411480"/>
          </a:xfrm>
          <a:prstGeom prst="rect">
            <a:avLst/>
          </a:prstGeom>
          <a:noFill/>
        </p:spPr>
        <p:txBody>
          <a:bodyPr wrap="none">
            <a:spAutoFit/>
          </a:bodyPr>
          <a:lstStyle/>
          <a:p>
            <a:pPr algn="r">
              <a:defRPr sz="1100" b="1">
                <a:solidFill>
                  <a:srgbClr val="475569"/>
                </a:solidFill>
                <a:latin typeface="Calibri"/>
              </a:defRPr>
            </a:pPr>
            <a:r>
              <a:t>🎙️ Indian English | Slide 08 / 08</a:t>
            </a:r>
          </a:p>
        </p:txBody>
      </p:sp>
      <p:sp>
        <p:nvSpPr>
          <p:cNvPr id="6" name="TextBox 5"/>
          <p:cNvSpPr txBox="1"/>
          <p:nvPr/>
        </p:nvSpPr>
        <p:spPr>
          <a:xfrm>
            <a:off x="731520" y="868680"/>
            <a:ext cx="10515600" cy="320040"/>
          </a:xfrm>
          <a:prstGeom prst="rect">
            <a:avLst/>
          </a:prstGeom>
          <a:noFill/>
        </p:spPr>
        <p:txBody>
          <a:bodyPr wrap="none">
            <a:spAutoFit/>
          </a:bodyPr>
          <a:lstStyle/>
          <a:p>
            <a:pPr>
              <a:defRPr sz="1000" b="1">
                <a:solidFill>
                  <a:srgbClr val="D97706"/>
                </a:solidFill>
                <a:latin typeface="Segoe UI"/>
              </a:defRPr>
            </a:pPr>
            <a:r>
              <a:t>BUSINESS VALUE &amp; VISION</a:t>
            </a:r>
          </a:p>
        </p:txBody>
      </p:sp>
      <p:sp>
        <p:nvSpPr>
          <p:cNvPr id="7" name="TextBox 6"/>
          <p:cNvSpPr txBox="1"/>
          <p:nvPr/>
        </p:nvSpPr>
        <p:spPr>
          <a:xfrm>
            <a:off x="731520" y="1115568"/>
            <a:ext cx="10515600" cy="594360"/>
          </a:xfrm>
          <a:prstGeom prst="rect">
            <a:avLst/>
          </a:prstGeom>
          <a:noFill/>
        </p:spPr>
        <p:txBody>
          <a:bodyPr wrap="none">
            <a:spAutoFit/>
          </a:bodyPr>
          <a:lstStyle/>
          <a:p>
            <a:pPr>
              <a:defRPr sz="2600" b="1">
                <a:solidFill>
                  <a:srgbClr val="0F172A"/>
                </a:solidFill>
                <a:latin typeface="Segoe UI"/>
              </a:defRPr>
            </a:pPr>
            <a:r>
              <a:t>Enterprise Scale &amp; Transformational ROI</a:t>
            </a:r>
          </a:p>
        </p:txBody>
      </p:sp>
      <p:sp>
        <p:nvSpPr>
          <p:cNvPr id="8" name="TextBox 7"/>
          <p:cNvSpPr txBox="1"/>
          <p:nvPr/>
        </p:nvSpPr>
        <p:spPr>
          <a:xfrm>
            <a:off x="731520" y="1691640"/>
            <a:ext cx="10515600" cy="411480"/>
          </a:xfrm>
          <a:prstGeom prst="rect">
            <a:avLst/>
          </a:prstGeom>
          <a:noFill/>
        </p:spPr>
        <p:txBody>
          <a:bodyPr wrap="none">
            <a:spAutoFit/>
          </a:bodyPr>
          <a:lstStyle/>
          <a:p>
            <a:pPr>
              <a:defRPr sz="1300">
                <a:solidFill>
                  <a:srgbClr val="475569"/>
                </a:solidFill>
                <a:latin typeface="Calibri"/>
              </a:defRPr>
            </a:pPr>
            <a:r>
              <a:t>Capturing human expertise before it walks out the door.</a:t>
            </a:r>
          </a:p>
        </p:txBody>
      </p:sp>
      <p:pic>
        <p:nvPicPr>
          <p:cNvPr id="9" name="Picture 8" descr="05_central_knowledge_explorer.png"/>
          <p:cNvPicPr>
            <a:picLocks noChangeAspect="1"/>
          </p:cNvPicPr>
          <p:nvPr/>
        </p:nvPicPr>
        <p:blipFill>
          <a:blip r:embed="rId2"/>
          <a:stretch>
            <a:fillRect/>
          </a:stretch>
        </p:blipFill>
        <p:spPr>
          <a:xfrm>
            <a:off x="731520" y="2240280"/>
            <a:ext cx="6583680" cy="4389120"/>
          </a:xfrm>
          <a:prstGeom prst="rect">
            <a:avLst/>
          </a:prstGeom>
        </p:spPr>
      </p:pic>
      <p:sp>
        <p:nvSpPr>
          <p:cNvPr id="10" name="Rounded Rectangle 9"/>
          <p:cNvSpPr/>
          <p:nvPr/>
        </p:nvSpPr>
        <p:spPr>
          <a:xfrm>
            <a:off x="7589520" y="2240280"/>
            <a:ext cx="3840480" cy="3931920"/>
          </a:xfrm>
          <a:prstGeom prst="roundRect">
            <a:avLst/>
          </a:prstGeom>
          <a:solidFill>
            <a:srgbClr val="FFFFFF"/>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20" y="2468880"/>
            <a:ext cx="3383280" cy="3474720"/>
          </a:xfrm>
          <a:prstGeom prst="rect">
            <a:avLst/>
          </a:prstGeom>
          <a:noFill/>
        </p:spPr>
        <p:txBody>
          <a:bodyPr wrap="square">
            <a:spAutoFit/>
          </a:bodyPr>
          <a:lstStyle/>
          <a:p>
            <a:pPr>
              <a:defRPr sz="1800" b="1">
                <a:solidFill>
                  <a:srgbClr val="0F172A"/>
                </a:solidFill>
                <a:latin typeface="Segoe UI"/>
              </a:defRPr>
            </a:pPr>
            <a:r>
              <a:t>Measurable Enterprise ROI</a:t>
            </a:r>
          </a:p>
          <a:p>
            <a:pPr>
              <a:spcAft>
                <a:spcPts val="400"/>
              </a:spcAft>
              <a:defRPr sz="3800" b="1">
                <a:solidFill>
                  <a:srgbClr val="059669"/>
                </a:solidFill>
                <a:latin typeface="Segoe UI"/>
              </a:defRPr>
            </a:pPr>
            <a:r>
              <a:t>18x ROI</a:t>
            </a:r>
          </a:p>
          <a:p>
            <a:pPr>
              <a:spcAft>
                <a:spcPts val="1200"/>
              </a:spcAft>
              <a:defRPr sz="1100">
                <a:solidFill>
                  <a:srgbClr val="475569"/>
                </a:solidFill>
                <a:latin typeface="Calibri"/>
              </a:defRPr>
            </a:pPr>
            <a:r>
              <a:t>A single avoided 2-hour downtime incident saves $2.6M — paying for PlantMind Edge across an entire factory facility for years.</a:t>
            </a:r>
          </a:p>
          <a:p>
            <a:pPr>
              <a:defRPr sz="1200" b="1">
                <a:solidFill>
                  <a:srgbClr val="2563EB"/>
                </a:solidFill>
                <a:latin typeface="Segoe UI"/>
              </a:defRPr>
            </a:pPr>
            <a:r>
              <a:t>✓ $14.2B Addressable Market</a:t>
            </a:r>
          </a:p>
          <a:p>
            <a:pPr>
              <a:spcAft>
                <a:spcPts val="800"/>
              </a:spcAft>
              <a:defRPr sz="1100">
                <a:solidFill>
                  <a:srgbClr val="475569"/>
                </a:solidFill>
                <a:latin typeface="Calibri"/>
              </a:defRPr>
            </a:pPr>
            <a:r>
              <a:t>   Connected worker and industrial edge intelligence sector growing at 24% CAGR.</a:t>
            </a:r>
          </a:p>
          <a:p>
            <a:pPr>
              <a:defRPr sz="1200" b="1">
                <a:solidFill>
                  <a:srgbClr val="D97706"/>
                </a:solidFill>
                <a:latin typeface="Segoe UI"/>
              </a:defRPr>
            </a:pPr>
            <a:r>
              <a:t>✓ Fleet Knowledge Master</a:t>
            </a:r>
          </a:p>
          <a:p>
            <a:pPr>
              <a:spcAft>
                <a:spcPts val="800"/>
              </a:spcAft>
              <a:defRPr sz="1100">
                <a:solidFill>
                  <a:srgbClr val="475569"/>
                </a:solidFill>
                <a:latin typeface="Calibri"/>
              </a:defRPr>
            </a:pPr>
            <a:r>
              <a:t>   Synchronizes maintenance best practices across multiple factories worldwide with Qdrant.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