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PlantMind Edge. An offline-first industrial knowledge continuity platform powered by official Qdrant Edge bindings. On modern manufacturing plant floors, connectivity is never guaranteed. PlantMind Edge brings real-time vector intelligence directly onto rugged edge tablets, ensuring mission-critical maintenance knowledge is always accessible.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Industrial downtime in heavy manufacturing can cost twenty-two thousand dollars per minute. Technicians face two brutal realities: factory floors are wireless dead zones where cloud AI fails, and senior technicians with decades of tribal knowledge are retiring, taking irreplaceable operational wisdom with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PlantMind Edge implements a robust edge architecture using the official qdrant-edge-py 0.8.0 package. We embed a native EdgeShard directly on the shop floor tablet. Queries are vectorized locally and matched against local HNSW vector indexes with zero reliance on cloud connectivity.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live offline search in action. Notice the airplane mode indicator: the tablet is completely isolated from the network. When the technician searches for 'hydraulic pressure dropping on Line 3 press', our local native EdgeShard returns Dave Miller's tribal workaround in sub-second latency, right on the device.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Technicians can log immediate observations directly on the floor. PlantMind Edge provides deliberate data sovereignty. A technician can flag an unverified observation to 'keep local until reviewed', preventing unvalidated drafts from polluting the central repository until peer review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Industrial edge tablets have strict hardware limits. PlantMind Edge includes an on-device Memory Inspector that continuously monitors native EdgeShard health, Write-Ahead Logs, and pending sync queues, guaranteeing predictable performance on rugged floor hardware.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tablets reconnect, conflicting offline updates are intelligently reconciled. Most edge databases rely on last-write-wins. In industrial manufacturing, last-write-wins on safety procedures creates unacceptable hazards. PlantMind Edge quarantines competing safety updates and invokes Groq LLaMA-3.3-70B to synthesize plain-language risk breakdowns.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engineering claims are fully backed by an automated verification matrix. The verify_demo.py script runs seven end-to-end tests: health checks, application-level offline mode, offline search on native Qdrant Edge, local writes, memory inspection, delta sync, and AI conflict reasoning. Every single check passes with exit code zero.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individual floor tablets to multi-plant fleet management, PlantMind Edge scales seamlessly across manufacturing operations. Preventing just one major downtime incident protects millions of dollars in plant throughput while capturing human expertise before it walks out the door. This is PlantMind Edge.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4114800" cy="457200"/>
          </a:xfrm>
          <a:prstGeom prst="rect">
            <a:avLst/>
          </a:prstGeom>
          <a:noFill/>
        </p:spPr>
        <p:txBody>
          <a:bodyPr wrap="square">
            <a:spAutoFit/>
          </a:bodyPr>
          <a:lstStyle/>
          <a:p>
            <a:pPr>
              <a:defRPr sz="1500" b="1">
                <a:solidFill>
                  <a:srgbClr val="0F172A"/>
                </a:solidFill>
                <a:latin typeface="Segoe UI"/>
              </a:defRPr>
            </a:pPr>
            <a:r>
              <a:t>🏭 PlantMind Edge  </a:t>
            </a:r>
            <a:r>
              <a:rPr sz="1100" b="1">
                <a:solidFill>
                  <a:srgbClr val="D97706"/>
                </a:solidFill>
                <a:latin typeface="Calibri"/>
              </a:rPr>
              <a:t>[ Qdrant Hackathon ]</a:t>
            </a:r>
          </a:p>
        </p:txBody>
      </p:sp>
      <p:sp>
        <p:nvSpPr>
          <p:cNvPr id="4" name="TextBox 3"/>
          <p:cNvSpPr txBox="1"/>
          <p:nvPr/>
        </p:nvSpPr>
        <p:spPr>
          <a:xfrm>
            <a:off x="4389120" y="164592"/>
            <a:ext cx="4023360" cy="411480"/>
          </a:xfrm>
          <a:prstGeom prst="rect">
            <a:avLst/>
          </a:prstGeom>
          <a:noFill/>
        </p:spPr>
        <p:txBody>
          <a:bodyPr wrap="none">
            <a:spAutoFit/>
          </a:bodyPr>
          <a:lstStyle/>
          <a:p>
            <a:pPr algn="ctr">
              <a:defRPr sz="1100">
                <a:solidFill>
                  <a:srgbClr val="475569"/>
                </a:solidFill>
                <a:latin typeface="Calibri"/>
              </a:defRPr>
            </a:pPr>
            <a:r>
              <a:t>Official qdrant-edge-py 0.8.0 Showcase</a:t>
            </a:r>
          </a:p>
        </p:txBody>
      </p:sp>
      <p:sp>
        <p:nvSpPr>
          <p:cNvPr id="5" name="TextBox 4"/>
          <p:cNvSpPr txBox="1"/>
          <p:nvPr/>
        </p:nvSpPr>
        <p:spPr>
          <a:xfrm>
            <a:off x="8412480" y="164592"/>
            <a:ext cx="3200400" cy="411480"/>
          </a:xfrm>
          <a:prstGeom prst="rect">
            <a:avLst/>
          </a:prstGeom>
          <a:noFill/>
        </p:spPr>
        <p:txBody>
          <a:bodyPr wrap="none">
            <a:spAutoFit/>
          </a:bodyPr>
          <a:lstStyle/>
          <a:p>
            <a:pPr algn="r">
              <a:defRPr sz="1100" b="1">
                <a:solidFill>
                  <a:srgbClr val="475569"/>
                </a:solidFill>
                <a:latin typeface="Calibri"/>
              </a:defRPr>
            </a:pPr>
            <a:r>
              <a:t>🎙️ Indian English | Slide 01 / 09</a:t>
            </a:r>
          </a:p>
        </p:txBody>
      </p:sp>
      <p:sp>
        <p:nvSpPr>
          <p:cNvPr id="6" name="TextBox 5"/>
          <p:cNvSpPr txBox="1"/>
          <p:nvPr/>
        </p:nvSpPr>
        <p:spPr>
          <a:xfrm>
            <a:off x="731520" y="868680"/>
            <a:ext cx="10515600" cy="320040"/>
          </a:xfrm>
          <a:prstGeom prst="rect">
            <a:avLst/>
          </a:prstGeom>
          <a:noFill/>
        </p:spPr>
        <p:txBody>
          <a:bodyPr wrap="none">
            <a:spAutoFit/>
          </a:bodyPr>
          <a:lstStyle/>
          <a:p>
            <a:pPr>
              <a:defRPr sz="1000" b="1">
                <a:solidFill>
                  <a:srgbClr val="D97706"/>
                </a:solidFill>
                <a:latin typeface="Segoe UI"/>
              </a:defRPr>
            </a:pPr>
            <a:r>
              <a:t>PRODUCT KEYNOTE</a:t>
            </a:r>
          </a:p>
        </p:txBody>
      </p:sp>
      <p:sp>
        <p:nvSpPr>
          <p:cNvPr id="7" name="TextBox 6"/>
          <p:cNvSpPr txBox="1"/>
          <p:nvPr/>
        </p:nvSpPr>
        <p:spPr>
          <a:xfrm>
            <a:off x="731520" y="1115568"/>
            <a:ext cx="10515600" cy="594360"/>
          </a:xfrm>
          <a:prstGeom prst="rect">
            <a:avLst/>
          </a:prstGeom>
          <a:noFill/>
        </p:spPr>
        <p:txBody>
          <a:bodyPr wrap="none">
            <a:spAutoFit/>
          </a:bodyPr>
          <a:lstStyle/>
          <a:p>
            <a:pPr>
              <a:defRPr sz="2600" b="1">
                <a:solidFill>
                  <a:srgbClr val="0F172A"/>
                </a:solidFill>
                <a:latin typeface="Segoe UI"/>
              </a:defRPr>
            </a:pPr>
            <a:r>
              <a:t>PlantMind Edge</a:t>
            </a:r>
          </a:p>
        </p:txBody>
      </p:sp>
      <p:sp>
        <p:nvSpPr>
          <p:cNvPr id="8" name="TextBox 7"/>
          <p:cNvSpPr txBox="1"/>
          <p:nvPr/>
        </p:nvSpPr>
        <p:spPr>
          <a:xfrm>
            <a:off x="731520" y="1691640"/>
            <a:ext cx="10515600" cy="411480"/>
          </a:xfrm>
          <a:prstGeom prst="rect">
            <a:avLst/>
          </a:prstGeom>
          <a:noFill/>
        </p:spPr>
        <p:txBody>
          <a:bodyPr wrap="none">
            <a:spAutoFit/>
          </a:bodyPr>
          <a:lstStyle/>
          <a:p>
            <a:pPr>
              <a:defRPr sz="1300">
                <a:solidFill>
                  <a:srgbClr val="475569"/>
                </a:solidFill>
                <a:latin typeface="Calibri"/>
              </a:defRPr>
            </a:pPr>
            <a:r>
              <a:t>Offline-First Industrial Knowledge Continuity Powered by Native Qdrant Edge</a:t>
            </a:r>
          </a:p>
        </p:txBody>
      </p:sp>
      <p:sp>
        <p:nvSpPr>
          <p:cNvPr id="9" name="Rounded Rectangle 8"/>
          <p:cNvSpPr/>
          <p:nvPr/>
        </p:nvSpPr>
        <p:spPr>
          <a:xfrm>
            <a:off x="731520" y="2240280"/>
            <a:ext cx="347472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240280"/>
            <a:ext cx="3474720" cy="914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468880"/>
            <a:ext cx="3017520" cy="3474720"/>
          </a:xfrm>
          <a:prstGeom prst="rect">
            <a:avLst/>
          </a:prstGeom>
          <a:noFill/>
        </p:spPr>
        <p:txBody>
          <a:bodyPr wrap="square">
            <a:spAutoFit/>
          </a:bodyPr>
          <a:lstStyle/>
          <a:p>
            <a:pPr>
              <a:defRPr sz="1000" b="1">
                <a:solidFill>
                  <a:srgbClr val="D97706"/>
                </a:solidFill>
                <a:latin typeface="Segoe UI"/>
              </a:defRPr>
            </a:pPr>
            <a:r>
              <a:t>CORE ADVANTAGE 01</a:t>
            </a:r>
          </a:p>
          <a:p>
            <a:pPr>
              <a:spcBef>
                <a:spcPts val="800"/>
              </a:spcBef>
              <a:spcAft>
                <a:spcPts val="1200"/>
              </a:spcAft>
              <a:defRPr sz="1800" b="1">
                <a:solidFill>
                  <a:srgbClr val="0F172A"/>
                </a:solidFill>
                <a:latin typeface="Segoe UI"/>
              </a:defRPr>
            </a:pPr>
            <a:r>
              <a:t>Sub-Second Vector Search</a:t>
            </a:r>
          </a:p>
          <a:p>
            <a:pPr>
              <a:spcAft>
                <a:spcPts val="2400"/>
              </a:spcAft>
              <a:defRPr sz="1300">
                <a:solidFill>
                  <a:srgbClr val="475569"/>
                </a:solidFill>
                <a:latin typeface="Calibri"/>
              </a:defRPr>
            </a:pPr>
            <a:r>
              <a:t>Runs official native qdrant_edge.EdgeShard with FastEmbed 384d ONNX on shop-floor tablets. Zero cloud dependency.</a:t>
            </a:r>
          </a:p>
          <a:p>
            <a:pPr>
              <a:defRPr sz="1100" b="1">
                <a:solidFill>
                  <a:srgbClr val="0F172A"/>
                </a:solidFill>
                <a:latin typeface="Calibri"/>
              </a:defRPr>
            </a:pPr>
            <a:r>
              <a:t>• Official qdrant-edge-py 0.8.0 Shard</a:t>
            </a:r>
          </a:p>
        </p:txBody>
      </p:sp>
      <p:sp>
        <p:nvSpPr>
          <p:cNvPr id="12" name="Rounded Rectangle 11"/>
          <p:cNvSpPr/>
          <p:nvPr/>
        </p:nvSpPr>
        <p:spPr>
          <a:xfrm>
            <a:off x="4343400" y="2240280"/>
            <a:ext cx="347472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2240280"/>
            <a:ext cx="3474720"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468880"/>
            <a:ext cx="3017520" cy="3474720"/>
          </a:xfrm>
          <a:prstGeom prst="rect">
            <a:avLst/>
          </a:prstGeom>
          <a:noFill/>
        </p:spPr>
        <p:txBody>
          <a:bodyPr wrap="square">
            <a:spAutoFit/>
          </a:bodyPr>
          <a:lstStyle/>
          <a:p>
            <a:pPr>
              <a:defRPr sz="1000" b="1">
                <a:solidFill>
                  <a:srgbClr val="2563EB"/>
                </a:solidFill>
                <a:latin typeface="Segoe UI"/>
              </a:defRPr>
            </a:pPr>
            <a:r>
              <a:t>CORE ADVANTAGE 02</a:t>
            </a:r>
          </a:p>
          <a:p>
            <a:pPr>
              <a:spcBef>
                <a:spcPts val="800"/>
              </a:spcBef>
              <a:spcAft>
                <a:spcPts val="1200"/>
              </a:spcAft>
              <a:defRPr sz="1800" b="1">
                <a:solidFill>
                  <a:srgbClr val="0F172A"/>
                </a:solidFill>
                <a:latin typeface="Segoe UI"/>
              </a:defRPr>
            </a:pPr>
            <a:r>
              <a:t>Deliberate Data Policy</a:t>
            </a:r>
          </a:p>
          <a:p>
            <a:pPr>
              <a:spcAft>
                <a:spcPts val="2400"/>
              </a:spcAft>
              <a:defRPr sz="1300">
                <a:solidFill>
                  <a:srgbClr val="475569"/>
                </a:solidFill>
                <a:latin typeface="Calibri"/>
              </a:defRPr>
            </a:pPr>
            <a:r>
              <a:t>Technicians decide what stays local vs. what synchronizes. Unverified observations stay protected on-device.</a:t>
            </a:r>
          </a:p>
          <a:p>
            <a:pPr>
              <a:defRPr sz="1100" b="1">
                <a:solidFill>
                  <a:srgbClr val="0F172A"/>
                </a:solidFill>
                <a:latin typeface="Calibri"/>
              </a:defRPr>
            </a:pPr>
            <a:r>
              <a:t>• Data Sovereignty by Design</a:t>
            </a:r>
          </a:p>
        </p:txBody>
      </p:sp>
      <p:sp>
        <p:nvSpPr>
          <p:cNvPr id="15" name="Rounded Rectangle 14"/>
          <p:cNvSpPr/>
          <p:nvPr/>
        </p:nvSpPr>
        <p:spPr>
          <a:xfrm>
            <a:off x="7955280" y="2240280"/>
            <a:ext cx="347472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55280" y="2240280"/>
            <a:ext cx="3474720" cy="9144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2468880"/>
            <a:ext cx="3017520" cy="3474720"/>
          </a:xfrm>
          <a:prstGeom prst="rect">
            <a:avLst/>
          </a:prstGeom>
          <a:noFill/>
        </p:spPr>
        <p:txBody>
          <a:bodyPr wrap="square">
            <a:spAutoFit/>
          </a:bodyPr>
          <a:lstStyle/>
          <a:p>
            <a:pPr>
              <a:defRPr sz="1000" b="1">
                <a:solidFill>
                  <a:srgbClr val="059669"/>
                </a:solidFill>
                <a:latin typeface="Segoe UI"/>
              </a:defRPr>
            </a:pPr>
            <a:r>
              <a:t>CORE ADVANTAGE 03</a:t>
            </a:r>
          </a:p>
          <a:p>
            <a:pPr>
              <a:spcBef>
                <a:spcPts val="800"/>
              </a:spcBef>
              <a:spcAft>
                <a:spcPts val="1200"/>
              </a:spcAft>
              <a:defRPr sz="1800" b="1">
                <a:solidFill>
                  <a:srgbClr val="0F172A"/>
                </a:solidFill>
                <a:latin typeface="Segoe UI"/>
              </a:defRPr>
            </a:pPr>
            <a:r>
              <a:t>Groq LLaMA Safety Sync</a:t>
            </a:r>
          </a:p>
          <a:p>
            <a:pPr>
              <a:spcAft>
                <a:spcPts val="2400"/>
              </a:spcAft>
              <a:defRPr sz="1300">
                <a:solidFill>
                  <a:srgbClr val="475569"/>
                </a:solidFill>
                <a:latin typeface="Calibri"/>
              </a:defRPr>
            </a:pPr>
            <a:r>
              <a:t>Rejects silent last-write-wins overwriting on safety procedures. Groq LLaMA-3.3-70B synthesizes risk diffs for humans.</a:t>
            </a:r>
          </a:p>
          <a:p>
            <a:pPr>
              <a:defRPr sz="1100" b="1">
                <a:solidFill>
                  <a:srgbClr val="0F172A"/>
                </a:solidFill>
                <a:latin typeface="Calibri"/>
              </a:defRPr>
            </a:pPr>
            <a:r>
              <a:t>• Safety-Critical Updates Require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4114800" cy="457200"/>
          </a:xfrm>
          <a:prstGeom prst="rect">
            <a:avLst/>
          </a:prstGeom>
          <a:noFill/>
        </p:spPr>
        <p:txBody>
          <a:bodyPr wrap="square">
            <a:spAutoFit/>
          </a:bodyPr>
          <a:lstStyle/>
          <a:p>
            <a:pPr>
              <a:defRPr sz="1500" b="1">
                <a:solidFill>
                  <a:srgbClr val="0F172A"/>
                </a:solidFill>
                <a:latin typeface="Segoe UI"/>
              </a:defRPr>
            </a:pPr>
            <a:r>
              <a:t>🏭 PlantMind Edge  </a:t>
            </a:r>
            <a:r>
              <a:rPr sz="1100" b="1">
                <a:solidFill>
                  <a:srgbClr val="D97706"/>
                </a:solidFill>
                <a:latin typeface="Calibri"/>
              </a:rPr>
              <a:t>[ Qdrant Hackathon ]</a:t>
            </a:r>
          </a:p>
        </p:txBody>
      </p:sp>
      <p:sp>
        <p:nvSpPr>
          <p:cNvPr id="4" name="TextBox 3"/>
          <p:cNvSpPr txBox="1"/>
          <p:nvPr/>
        </p:nvSpPr>
        <p:spPr>
          <a:xfrm>
            <a:off x="4389120" y="164592"/>
            <a:ext cx="4023360" cy="411480"/>
          </a:xfrm>
          <a:prstGeom prst="rect">
            <a:avLst/>
          </a:prstGeom>
          <a:noFill/>
        </p:spPr>
        <p:txBody>
          <a:bodyPr wrap="none">
            <a:spAutoFit/>
          </a:bodyPr>
          <a:lstStyle/>
          <a:p>
            <a:pPr algn="ctr">
              <a:defRPr sz="1100">
                <a:solidFill>
                  <a:srgbClr val="475569"/>
                </a:solidFill>
                <a:latin typeface="Calibri"/>
              </a:defRPr>
            </a:pPr>
            <a:r>
              <a:t>Official qdrant-edge-py 0.8.0 Showcase</a:t>
            </a:r>
          </a:p>
        </p:txBody>
      </p:sp>
      <p:sp>
        <p:nvSpPr>
          <p:cNvPr id="5" name="TextBox 4"/>
          <p:cNvSpPr txBox="1"/>
          <p:nvPr/>
        </p:nvSpPr>
        <p:spPr>
          <a:xfrm>
            <a:off x="8412480" y="164592"/>
            <a:ext cx="3200400" cy="411480"/>
          </a:xfrm>
          <a:prstGeom prst="rect">
            <a:avLst/>
          </a:prstGeom>
          <a:noFill/>
        </p:spPr>
        <p:txBody>
          <a:bodyPr wrap="none">
            <a:spAutoFit/>
          </a:bodyPr>
          <a:lstStyle/>
          <a:p>
            <a:pPr algn="r">
              <a:defRPr sz="1100" b="1">
                <a:solidFill>
                  <a:srgbClr val="475569"/>
                </a:solidFill>
                <a:latin typeface="Calibri"/>
              </a:defRPr>
            </a:pPr>
            <a:r>
              <a:t>🎙️ Indian English | Slide 02 / 09</a:t>
            </a:r>
          </a:p>
        </p:txBody>
      </p:sp>
      <p:sp>
        <p:nvSpPr>
          <p:cNvPr id="6" name="TextBox 5"/>
          <p:cNvSpPr txBox="1"/>
          <p:nvPr/>
        </p:nvSpPr>
        <p:spPr>
          <a:xfrm>
            <a:off x="731520" y="868680"/>
            <a:ext cx="10515600" cy="320040"/>
          </a:xfrm>
          <a:prstGeom prst="rect">
            <a:avLst/>
          </a:prstGeom>
          <a:noFill/>
        </p:spPr>
        <p:txBody>
          <a:bodyPr wrap="none">
            <a:spAutoFit/>
          </a:bodyPr>
          <a:lstStyle/>
          <a:p>
            <a:pPr>
              <a:defRPr sz="1000" b="1">
                <a:solidFill>
                  <a:srgbClr val="D97706"/>
                </a:solidFill>
                <a:latin typeface="Segoe UI"/>
              </a:defRPr>
            </a:pPr>
            <a:r>
              <a:t>THE PROBLEM STATEMENT</a:t>
            </a:r>
          </a:p>
        </p:txBody>
      </p:sp>
      <p:sp>
        <p:nvSpPr>
          <p:cNvPr id="7" name="TextBox 6"/>
          <p:cNvSpPr txBox="1"/>
          <p:nvPr/>
        </p:nvSpPr>
        <p:spPr>
          <a:xfrm>
            <a:off x="731520" y="1115568"/>
            <a:ext cx="10515600" cy="594360"/>
          </a:xfrm>
          <a:prstGeom prst="rect">
            <a:avLst/>
          </a:prstGeom>
          <a:noFill/>
        </p:spPr>
        <p:txBody>
          <a:bodyPr wrap="none">
            <a:spAutoFit/>
          </a:bodyPr>
          <a:lstStyle/>
          <a:p>
            <a:pPr>
              <a:defRPr sz="2600" b="1">
                <a:solidFill>
                  <a:srgbClr val="0F172A"/>
                </a:solidFill>
                <a:latin typeface="Segoe UI"/>
              </a:defRPr>
            </a:pPr>
            <a:r>
              <a:t>The Heavy Industry Downtime Crisis</a:t>
            </a:r>
          </a:p>
        </p:txBody>
      </p:sp>
      <p:sp>
        <p:nvSpPr>
          <p:cNvPr id="8" name="TextBox 7"/>
          <p:cNvSpPr txBox="1"/>
          <p:nvPr/>
        </p:nvSpPr>
        <p:spPr>
          <a:xfrm>
            <a:off x="731520" y="1691640"/>
            <a:ext cx="10515600" cy="411480"/>
          </a:xfrm>
          <a:prstGeom prst="rect">
            <a:avLst/>
          </a:prstGeom>
          <a:noFill/>
        </p:spPr>
        <p:txBody>
          <a:bodyPr wrap="none">
            <a:spAutoFit/>
          </a:bodyPr>
          <a:lstStyle/>
          <a:p>
            <a:pPr>
              <a:defRPr sz="1300">
                <a:solidFill>
                  <a:srgbClr val="475569"/>
                </a:solidFill>
                <a:latin typeface="Calibri"/>
              </a:defRPr>
            </a:pPr>
            <a:r>
              <a:t>When production halts in a concrete Faraday cage, cloud AI is completely unreachable.</a:t>
            </a:r>
          </a:p>
        </p:txBody>
      </p:sp>
      <p:sp>
        <p:nvSpPr>
          <p:cNvPr id="9" name="Rounded Rectangle 8"/>
          <p:cNvSpPr/>
          <p:nvPr/>
        </p:nvSpPr>
        <p:spPr>
          <a:xfrm>
            <a:off x="731520" y="2240280"/>
            <a:ext cx="347472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240280"/>
            <a:ext cx="3474720" cy="9144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468880"/>
            <a:ext cx="3017520" cy="3474720"/>
          </a:xfrm>
          <a:prstGeom prst="rect">
            <a:avLst/>
          </a:prstGeom>
          <a:noFill/>
        </p:spPr>
        <p:txBody>
          <a:bodyPr wrap="square">
            <a:spAutoFit/>
          </a:bodyPr>
          <a:lstStyle/>
          <a:p>
            <a:pPr>
              <a:defRPr sz="1000" b="1">
                <a:solidFill>
                  <a:srgbClr val="475569"/>
                </a:solidFill>
                <a:latin typeface="Segoe UI"/>
              </a:defRPr>
            </a:pPr>
            <a:r>
              <a:t>STAMPING LINE DOWNTIME</a:t>
            </a:r>
          </a:p>
          <a:p>
            <a:pPr>
              <a:spcBef>
                <a:spcPts val="600"/>
              </a:spcBef>
              <a:spcAft>
                <a:spcPts val="1000"/>
              </a:spcAft>
              <a:defRPr sz="3200" b="1">
                <a:solidFill>
                  <a:srgbClr val="DC2626"/>
                </a:solidFill>
                <a:latin typeface="Segoe UI"/>
              </a:defRPr>
            </a:pPr>
            <a:r>
              <a:t>~$22,000</a:t>
            </a:r>
          </a:p>
          <a:p>
            <a:pPr>
              <a:spcAft>
                <a:spcPts val="2000"/>
              </a:spcAft>
              <a:defRPr sz="1300">
                <a:solidFill>
                  <a:srgbClr val="0F172A"/>
                </a:solidFill>
                <a:latin typeface="Calibri"/>
              </a:defRPr>
            </a:pPr>
            <a:r>
              <a:t>Illustrative cost per minute of unplanned automotive line stoppage.</a:t>
            </a:r>
          </a:p>
          <a:p>
            <a:pPr>
              <a:defRPr sz="1100">
                <a:solidFill>
                  <a:srgbClr val="475569"/>
                </a:solidFill>
                <a:latin typeface="Calibri"/>
              </a:defRPr>
            </a:pPr>
            <a:r>
              <a:t>Benchmark: Heavy manufacturing downtime averages $1.3M/hour (Siemens/Ponemon data).</a:t>
            </a:r>
          </a:p>
        </p:txBody>
      </p:sp>
      <p:sp>
        <p:nvSpPr>
          <p:cNvPr id="12" name="Rounded Rectangle 11"/>
          <p:cNvSpPr/>
          <p:nvPr/>
        </p:nvSpPr>
        <p:spPr>
          <a:xfrm>
            <a:off x="4343400" y="2240280"/>
            <a:ext cx="347472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2240280"/>
            <a:ext cx="3474720" cy="914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468880"/>
            <a:ext cx="3017520" cy="3474720"/>
          </a:xfrm>
          <a:prstGeom prst="rect">
            <a:avLst/>
          </a:prstGeom>
          <a:noFill/>
        </p:spPr>
        <p:txBody>
          <a:bodyPr wrap="square">
            <a:spAutoFit/>
          </a:bodyPr>
          <a:lstStyle/>
          <a:p>
            <a:pPr>
              <a:defRPr sz="1000" b="1">
                <a:solidFill>
                  <a:srgbClr val="475569"/>
                </a:solidFill>
                <a:latin typeface="Segoe UI"/>
              </a:defRPr>
            </a:pPr>
            <a:r>
              <a:t>KNOWLEDGE LOSS</a:t>
            </a:r>
          </a:p>
          <a:p>
            <a:pPr>
              <a:spcBef>
                <a:spcPts val="600"/>
              </a:spcBef>
              <a:spcAft>
                <a:spcPts val="1000"/>
              </a:spcAft>
              <a:defRPr sz="3200" b="1">
                <a:solidFill>
                  <a:srgbClr val="D97706"/>
                </a:solidFill>
                <a:latin typeface="Segoe UI"/>
              </a:defRPr>
            </a:pPr>
            <a:r>
              <a:t>Retiring Techs</a:t>
            </a:r>
          </a:p>
          <a:p>
            <a:pPr>
              <a:spcAft>
                <a:spcPts val="2000"/>
              </a:spcAft>
              <a:defRPr sz="1300">
                <a:solidFill>
                  <a:srgbClr val="0F172A"/>
                </a:solidFill>
                <a:latin typeface="Calibri"/>
              </a:defRPr>
            </a:pPr>
            <a:r>
              <a:t>Experienced technicians are retiring, taking undocumented troubleshooting knowledge with them.</a:t>
            </a:r>
          </a:p>
          <a:p>
            <a:pPr>
              <a:defRPr sz="1100">
                <a:solidFill>
                  <a:srgbClr val="475569"/>
                </a:solidFill>
                <a:latin typeface="Calibri"/>
              </a:defRPr>
            </a:pPr>
            <a:r>
              <a:t>Knowledge Drain: Decades of unwritten tribal fixes walk out the door every month.</a:t>
            </a:r>
          </a:p>
        </p:txBody>
      </p:sp>
      <p:sp>
        <p:nvSpPr>
          <p:cNvPr id="15" name="Rounded Rectangle 14"/>
          <p:cNvSpPr/>
          <p:nvPr/>
        </p:nvSpPr>
        <p:spPr>
          <a:xfrm>
            <a:off x="7955280" y="2240280"/>
            <a:ext cx="347472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55280" y="2240280"/>
            <a:ext cx="3474720"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2468880"/>
            <a:ext cx="3017520" cy="3474720"/>
          </a:xfrm>
          <a:prstGeom prst="rect">
            <a:avLst/>
          </a:prstGeom>
          <a:noFill/>
        </p:spPr>
        <p:txBody>
          <a:bodyPr wrap="square">
            <a:spAutoFit/>
          </a:bodyPr>
          <a:lstStyle/>
          <a:p>
            <a:pPr>
              <a:defRPr sz="1000" b="1">
                <a:solidFill>
                  <a:srgbClr val="475569"/>
                </a:solidFill>
                <a:latin typeface="Segoe UI"/>
              </a:defRPr>
            </a:pPr>
            <a:r>
              <a:t>FLOOR CONNECTIVITY</a:t>
            </a:r>
          </a:p>
          <a:p>
            <a:pPr>
              <a:spcBef>
                <a:spcPts val="600"/>
              </a:spcBef>
              <a:spcAft>
                <a:spcPts val="1000"/>
              </a:spcAft>
              <a:defRPr sz="3200" b="1">
                <a:solidFill>
                  <a:srgbClr val="2563EB"/>
                </a:solidFill>
                <a:latin typeface="Segoe UI"/>
              </a:defRPr>
            </a:pPr>
            <a:r>
              <a:t>0% Wi-Fi</a:t>
            </a:r>
          </a:p>
          <a:p>
            <a:pPr>
              <a:spcAft>
                <a:spcPts val="2000"/>
              </a:spcAft>
              <a:defRPr sz="1300">
                <a:solidFill>
                  <a:srgbClr val="0F172A"/>
                </a:solidFill>
                <a:latin typeface="Calibri"/>
              </a:defRPr>
            </a:pPr>
            <a:r>
              <a:t>Reinforced concrete, motors &amp; EMI shields create permanent dead zones.</a:t>
            </a:r>
          </a:p>
          <a:p>
            <a:pPr>
              <a:defRPr sz="1100">
                <a:solidFill>
                  <a:srgbClr val="475569"/>
                </a:solidFill>
                <a:latin typeface="Calibri"/>
              </a:defRPr>
            </a:pPr>
            <a:r>
              <a:t>Edge Requirement: Cloud APIs cannot be reached in basement pits and press cells.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4114800" cy="457200"/>
          </a:xfrm>
          <a:prstGeom prst="rect">
            <a:avLst/>
          </a:prstGeom>
          <a:noFill/>
        </p:spPr>
        <p:txBody>
          <a:bodyPr wrap="square">
            <a:spAutoFit/>
          </a:bodyPr>
          <a:lstStyle/>
          <a:p>
            <a:pPr>
              <a:defRPr sz="1500" b="1">
                <a:solidFill>
                  <a:srgbClr val="0F172A"/>
                </a:solidFill>
                <a:latin typeface="Segoe UI"/>
              </a:defRPr>
            </a:pPr>
            <a:r>
              <a:t>🏭 PlantMind Edge  </a:t>
            </a:r>
            <a:r>
              <a:rPr sz="1100" b="1">
                <a:solidFill>
                  <a:srgbClr val="D97706"/>
                </a:solidFill>
                <a:latin typeface="Calibri"/>
              </a:rPr>
              <a:t>[ Qdrant Hackathon ]</a:t>
            </a:r>
          </a:p>
        </p:txBody>
      </p:sp>
      <p:sp>
        <p:nvSpPr>
          <p:cNvPr id="4" name="TextBox 3"/>
          <p:cNvSpPr txBox="1"/>
          <p:nvPr/>
        </p:nvSpPr>
        <p:spPr>
          <a:xfrm>
            <a:off x="4389120" y="164592"/>
            <a:ext cx="4023360" cy="411480"/>
          </a:xfrm>
          <a:prstGeom prst="rect">
            <a:avLst/>
          </a:prstGeom>
          <a:noFill/>
        </p:spPr>
        <p:txBody>
          <a:bodyPr wrap="none">
            <a:spAutoFit/>
          </a:bodyPr>
          <a:lstStyle/>
          <a:p>
            <a:pPr algn="ctr">
              <a:defRPr sz="1100">
                <a:solidFill>
                  <a:srgbClr val="475569"/>
                </a:solidFill>
                <a:latin typeface="Calibri"/>
              </a:defRPr>
            </a:pPr>
            <a:r>
              <a:t>Official qdrant-edge-py 0.8.0 Showcase</a:t>
            </a:r>
          </a:p>
        </p:txBody>
      </p:sp>
      <p:sp>
        <p:nvSpPr>
          <p:cNvPr id="5" name="TextBox 4"/>
          <p:cNvSpPr txBox="1"/>
          <p:nvPr/>
        </p:nvSpPr>
        <p:spPr>
          <a:xfrm>
            <a:off x="8412480" y="164592"/>
            <a:ext cx="3200400" cy="411480"/>
          </a:xfrm>
          <a:prstGeom prst="rect">
            <a:avLst/>
          </a:prstGeom>
          <a:noFill/>
        </p:spPr>
        <p:txBody>
          <a:bodyPr wrap="none">
            <a:spAutoFit/>
          </a:bodyPr>
          <a:lstStyle/>
          <a:p>
            <a:pPr algn="r">
              <a:defRPr sz="1100" b="1">
                <a:solidFill>
                  <a:srgbClr val="475569"/>
                </a:solidFill>
                <a:latin typeface="Calibri"/>
              </a:defRPr>
            </a:pPr>
            <a:r>
              <a:t>🎙️ Indian English | Slide 03 / 09</a:t>
            </a:r>
          </a:p>
        </p:txBody>
      </p:sp>
      <p:sp>
        <p:nvSpPr>
          <p:cNvPr id="6" name="TextBox 5"/>
          <p:cNvSpPr txBox="1"/>
          <p:nvPr/>
        </p:nvSpPr>
        <p:spPr>
          <a:xfrm>
            <a:off x="731520" y="868680"/>
            <a:ext cx="10515600" cy="320040"/>
          </a:xfrm>
          <a:prstGeom prst="rect">
            <a:avLst/>
          </a:prstGeom>
          <a:noFill/>
        </p:spPr>
        <p:txBody>
          <a:bodyPr wrap="none">
            <a:spAutoFit/>
          </a:bodyPr>
          <a:lstStyle/>
          <a:p>
            <a:pPr>
              <a:defRPr sz="1000" b="1">
                <a:solidFill>
                  <a:srgbClr val="D97706"/>
                </a:solidFill>
                <a:latin typeface="Segoe UI"/>
              </a:defRPr>
            </a:pPr>
            <a:r>
              <a:t>SYSTEM ARCHITECTURE</a:t>
            </a:r>
          </a:p>
        </p:txBody>
      </p:sp>
      <p:sp>
        <p:nvSpPr>
          <p:cNvPr id="7" name="TextBox 6"/>
          <p:cNvSpPr txBox="1"/>
          <p:nvPr/>
        </p:nvSpPr>
        <p:spPr>
          <a:xfrm>
            <a:off x="731520" y="1115568"/>
            <a:ext cx="10515600" cy="594360"/>
          </a:xfrm>
          <a:prstGeom prst="rect">
            <a:avLst/>
          </a:prstGeom>
          <a:noFill/>
        </p:spPr>
        <p:txBody>
          <a:bodyPr wrap="none">
            <a:spAutoFit/>
          </a:bodyPr>
          <a:lstStyle/>
          <a:p>
            <a:pPr>
              <a:defRPr sz="2600" b="1">
                <a:solidFill>
                  <a:srgbClr val="0F172A"/>
                </a:solidFill>
                <a:latin typeface="Segoe UI"/>
              </a:defRPr>
            </a:pPr>
            <a:r>
              <a:t>Official Native Qdrant Edge: On-Floor Intelligence</a:t>
            </a:r>
          </a:p>
        </p:txBody>
      </p:sp>
      <p:sp>
        <p:nvSpPr>
          <p:cNvPr id="8" name="TextBox 7"/>
          <p:cNvSpPr txBox="1"/>
          <p:nvPr/>
        </p:nvSpPr>
        <p:spPr>
          <a:xfrm>
            <a:off x="731520" y="1691640"/>
            <a:ext cx="10515600" cy="411480"/>
          </a:xfrm>
          <a:prstGeom prst="rect">
            <a:avLst/>
          </a:prstGeom>
          <a:noFill/>
        </p:spPr>
        <p:txBody>
          <a:bodyPr wrap="none">
            <a:spAutoFit/>
          </a:bodyPr>
          <a:lstStyle/>
          <a:p>
            <a:pPr>
              <a:defRPr sz="1300">
                <a:solidFill>
                  <a:srgbClr val="475569"/>
                </a:solidFill>
                <a:latin typeface="Calibri"/>
              </a:defRPr>
            </a:pPr>
            <a:r>
              <a:t>Local CPU vectorization paired with intelligent, conflict-aware central synchronization.</a:t>
            </a:r>
          </a:p>
        </p:txBody>
      </p:sp>
      <p:sp>
        <p:nvSpPr>
          <p:cNvPr id="9" name="Rounded Rectangle 8"/>
          <p:cNvSpPr/>
          <p:nvPr/>
        </p:nvSpPr>
        <p:spPr>
          <a:xfrm>
            <a:off x="731520" y="2240280"/>
            <a:ext cx="4846320" cy="3931920"/>
          </a:xfrm>
          <a:prstGeom prst="roundRect">
            <a:avLst/>
          </a:prstGeom>
          <a:solidFill>
            <a:srgbClr val="FFFFFF"/>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468880"/>
            <a:ext cx="4297680" cy="3474720"/>
          </a:xfrm>
          <a:prstGeom prst="rect">
            <a:avLst/>
          </a:prstGeom>
          <a:noFill/>
        </p:spPr>
        <p:txBody>
          <a:bodyPr wrap="square">
            <a:spAutoFit/>
          </a:bodyPr>
          <a:lstStyle/>
          <a:p>
            <a:pPr>
              <a:spcAft>
                <a:spcPts val="1400"/>
              </a:spcAft>
              <a:defRPr sz="1600" b="1">
                <a:solidFill>
                  <a:srgbClr val="0F172A"/>
                </a:solidFill>
                <a:latin typeface="Segoe UI"/>
              </a:defRPr>
            </a:pPr>
            <a:r>
              <a:t>📱 Rugged Edge Tablet (Shop Floor)</a:t>
            </a:r>
          </a:p>
          <a:p>
            <a:pPr>
              <a:defRPr sz="1200" b="1">
                <a:solidFill>
                  <a:srgbClr val="D97706"/>
                </a:solidFill>
                <a:latin typeface="Segoe UI"/>
              </a:defRPr>
            </a:pPr>
            <a:r>
              <a:t>• Official qdrant_edge.EdgeShard (0.8.0)</a:t>
            </a:r>
          </a:p>
          <a:p>
            <a:pPr>
              <a:spcAft>
                <a:spcPts val="800"/>
              </a:spcAft>
              <a:defRPr sz="1100">
                <a:solidFill>
                  <a:srgbClr val="475569"/>
                </a:solidFill>
                <a:latin typeface="Calibri"/>
              </a:defRPr>
            </a:pPr>
            <a:r>
              <a:t>  Direct Rust-backed native EdgeShard with segment management, WAL, and local HNSW cosine indexing.</a:t>
            </a:r>
          </a:p>
          <a:p>
            <a:pPr>
              <a:defRPr sz="1200" b="1">
                <a:solidFill>
                  <a:srgbClr val="D97706"/>
                </a:solidFill>
                <a:latin typeface="Segoe UI"/>
              </a:defRPr>
            </a:pPr>
            <a:r>
              <a:t>• FastEmbed Dense ONNX (384d)</a:t>
            </a:r>
          </a:p>
          <a:p>
            <a:pPr>
              <a:spcAft>
                <a:spcPts val="800"/>
              </a:spcAft>
              <a:defRPr sz="1100">
                <a:solidFill>
                  <a:srgbClr val="475569"/>
                </a:solidFill>
                <a:latin typeface="Calibri"/>
              </a:defRPr>
            </a:pPr>
            <a:r>
              <a:t>  Local vectorization executed on CPU with deterministic fallback for completely air-gapped environments.</a:t>
            </a:r>
          </a:p>
          <a:p>
            <a:pPr>
              <a:defRPr sz="1200" b="1">
                <a:solidFill>
                  <a:srgbClr val="D97706"/>
                </a:solidFill>
                <a:latin typeface="Segoe UI"/>
              </a:defRPr>
            </a:pPr>
            <a:r>
              <a:t>• Persistent Append-Only Staging Log</a:t>
            </a:r>
          </a:p>
          <a:p>
            <a:pPr>
              <a:spcAft>
                <a:spcPts val="800"/>
              </a:spcAft>
              <a:defRPr sz="1100">
                <a:solidFill>
                  <a:srgbClr val="475569"/>
                </a:solidFill>
                <a:latin typeface="Calibri"/>
              </a:defRPr>
            </a:pPr>
            <a:r>
              <a:t>  Staging log with monotonic sequence numbers ensuring immediate local retrieval and data sovereignty.</a:t>
            </a:r>
          </a:p>
        </p:txBody>
      </p:sp>
      <p:sp>
        <p:nvSpPr>
          <p:cNvPr id="11" name="Rounded Rectangle 10"/>
          <p:cNvSpPr/>
          <p:nvPr/>
        </p:nvSpPr>
        <p:spPr>
          <a:xfrm>
            <a:off x="5760720" y="3291840"/>
            <a:ext cx="1188720" cy="1828800"/>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0" y="3474720"/>
            <a:ext cx="1188720" cy="1463040"/>
          </a:xfrm>
          <a:prstGeom prst="rect">
            <a:avLst/>
          </a:prstGeom>
          <a:noFill/>
        </p:spPr>
        <p:txBody>
          <a:bodyPr wrap="square">
            <a:spAutoFit/>
          </a:bodyPr>
          <a:lstStyle/>
          <a:p>
            <a:pPr algn="ctr">
              <a:defRPr sz="1100" b="1">
                <a:solidFill>
                  <a:srgbClr val="D97706"/>
                </a:solidFill>
                <a:latin typeface="Calibri"/>
              </a:defRPr>
            </a:pPr>
            <a:r>
              <a:t>Intermittent</a:t>
            </a:r>
            <a:br/>
            <a:r>
              <a:t>LAN Sync</a:t>
            </a:r>
            <a:br/>
            <a:r>
              <a:t>⇄</a:t>
            </a:r>
            <a:br/>
            <a:r>
              <a:t>Delta</a:t>
            </a:r>
            <a:br/>
            <a:r>
              <a:t>Exchange</a:t>
            </a:r>
          </a:p>
        </p:txBody>
      </p:sp>
      <p:sp>
        <p:nvSpPr>
          <p:cNvPr id="13" name="Rounded Rectangle 12"/>
          <p:cNvSpPr/>
          <p:nvPr/>
        </p:nvSpPr>
        <p:spPr>
          <a:xfrm>
            <a:off x="7132320" y="2240280"/>
            <a:ext cx="4297680" cy="39319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0" y="2468880"/>
            <a:ext cx="3749039" cy="3474720"/>
          </a:xfrm>
          <a:prstGeom prst="rect">
            <a:avLst/>
          </a:prstGeom>
          <a:noFill/>
        </p:spPr>
        <p:txBody>
          <a:bodyPr wrap="square">
            <a:spAutoFit/>
          </a:bodyPr>
          <a:lstStyle/>
          <a:p>
            <a:pPr>
              <a:spcAft>
                <a:spcPts val="1400"/>
              </a:spcAft>
              <a:defRPr sz="1600" b="1">
                <a:solidFill>
                  <a:srgbClr val="0F172A"/>
                </a:solidFill>
                <a:latin typeface="Segoe UI"/>
              </a:defRPr>
            </a:pPr>
            <a:r>
              <a:t>☁️ Central Engineering Cloud</a:t>
            </a:r>
          </a:p>
          <a:p>
            <a:pPr>
              <a:defRPr sz="1200" b="1">
                <a:solidFill>
                  <a:srgbClr val="2563EB"/>
                </a:solidFill>
                <a:latin typeface="Segoe UI"/>
              </a:defRPr>
            </a:pPr>
            <a:r>
              <a:t>• Central Qdrant Vector Master</a:t>
            </a:r>
          </a:p>
          <a:p>
            <a:pPr>
              <a:spcAft>
                <a:spcPts val="800"/>
              </a:spcAft>
              <a:defRPr sz="1100">
                <a:solidFill>
                  <a:srgbClr val="475569"/>
                </a:solidFill>
                <a:latin typeface="Calibri"/>
              </a:defRPr>
            </a:pPr>
            <a:r>
              <a:t>  Global golden master database managing corporate procedures, manuals, and synchronized plant fleet records.</a:t>
            </a:r>
          </a:p>
          <a:p>
            <a:pPr>
              <a:defRPr sz="1200" b="1">
                <a:solidFill>
                  <a:srgbClr val="2563EB"/>
                </a:solidFill>
                <a:latin typeface="Segoe UI"/>
              </a:defRPr>
            </a:pPr>
            <a:r>
              <a:t>• Groq LLaMA-3.3-70B Reconciler</a:t>
            </a:r>
          </a:p>
          <a:p>
            <a:pPr>
              <a:spcAft>
                <a:spcPts val="800"/>
              </a:spcAft>
              <a:defRPr sz="1100">
                <a:solidFill>
                  <a:srgbClr val="475569"/>
                </a:solidFill>
                <a:latin typeface="Calibri"/>
              </a:defRPr>
            </a:pPr>
            <a:r>
              <a:t>  Automated AI conflict analysis; highlights hazardous omissions and blocks unsafe last-write-wins overwrites.</a:t>
            </a:r>
          </a:p>
          <a:p>
            <a:pPr>
              <a:defRPr sz="1200" b="1">
                <a:solidFill>
                  <a:srgbClr val="2563EB"/>
                </a:solidFill>
                <a:latin typeface="Segoe UI"/>
              </a:defRPr>
            </a:pPr>
            <a:r>
              <a:t>• Fleet Inventory &amp; Delta Broker</a:t>
            </a:r>
          </a:p>
          <a:p>
            <a:pPr>
              <a:spcAft>
                <a:spcPts val="800"/>
              </a:spcAft>
              <a:defRPr sz="1100">
                <a:solidFill>
                  <a:srgbClr val="475569"/>
                </a:solidFill>
                <a:latin typeface="Calibri"/>
              </a:defRPr>
            </a:pPr>
            <a:r>
              <a:t>  Tracks tablet shard state, memory pressure, and delta versions across plant kiosks.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4114800" cy="457200"/>
          </a:xfrm>
          <a:prstGeom prst="rect">
            <a:avLst/>
          </a:prstGeom>
          <a:noFill/>
        </p:spPr>
        <p:txBody>
          <a:bodyPr wrap="square">
            <a:spAutoFit/>
          </a:bodyPr>
          <a:lstStyle/>
          <a:p>
            <a:pPr>
              <a:defRPr sz="1500" b="1">
                <a:solidFill>
                  <a:srgbClr val="0F172A"/>
                </a:solidFill>
                <a:latin typeface="Segoe UI"/>
              </a:defRPr>
            </a:pPr>
            <a:r>
              <a:t>🏭 PlantMind Edge  </a:t>
            </a:r>
            <a:r>
              <a:rPr sz="1100" b="1">
                <a:solidFill>
                  <a:srgbClr val="D97706"/>
                </a:solidFill>
                <a:latin typeface="Calibri"/>
              </a:rPr>
              <a:t>[ Qdrant Hackathon ]</a:t>
            </a:r>
          </a:p>
        </p:txBody>
      </p:sp>
      <p:sp>
        <p:nvSpPr>
          <p:cNvPr id="4" name="TextBox 3"/>
          <p:cNvSpPr txBox="1"/>
          <p:nvPr/>
        </p:nvSpPr>
        <p:spPr>
          <a:xfrm>
            <a:off x="4389120" y="164592"/>
            <a:ext cx="4023360" cy="411480"/>
          </a:xfrm>
          <a:prstGeom prst="rect">
            <a:avLst/>
          </a:prstGeom>
          <a:noFill/>
        </p:spPr>
        <p:txBody>
          <a:bodyPr wrap="none">
            <a:spAutoFit/>
          </a:bodyPr>
          <a:lstStyle/>
          <a:p>
            <a:pPr algn="ctr">
              <a:defRPr sz="1100">
                <a:solidFill>
                  <a:srgbClr val="475569"/>
                </a:solidFill>
                <a:latin typeface="Calibri"/>
              </a:defRPr>
            </a:pPr>
            <a:r>
              <a:t>Official qdrant-edge-py 0.8.0 Showcase</a:t>
            </a:r>
          </a:p>
        </p:txBody>
      </p:sp>
      <p:sp>
        <p:nvSpPr>
          <p:cNvPr id="5" name="TextBox 4"/>
          <p:cNvSpPr txBox="1"/>
          <p:nvPr/>
        </p:nvSpPr>
        <p:spPr>
          <a:xfrm>
            <a:off x="8412480" y="164592"/>
            <a:ext cx="3200400" cy="411480"/>
          </a:xfrm>
          <a:prstGeom prst="rect">
            <a:avLst/>
          </a:prstGeom>
          <a:noFill/>
        </p:spPr>
        <p:txBody>
          <a:bodyPr wrap="none">
            <a:spAutoFit/>
          </a:bodyPr>
          <a:lstStyle/>
          <a:p>
            <a:pPr algn="r">
              <a:defRPr sz="1100" b="1">
                <a:solidFill>
                  <a:srgbClr val="475569"/>
                </a:solidFill>
                <a:latin typeface="Calibri"/>
              </a:defRPr>
            </a:pPr>
            <a:r>
              <a:t>🎙️ Indian English | Slide 04 / 09</a:t>
            </a:r>
          </a:p>
        </p:txBody>
      </p:sp>
      <p:sp>
        <p:nvSpPr>
          <p:cNvPr id="6" name="TextBox 5"/>
          <p:cNvSpPr txBox="1"/>
          <p:nvPr/>
        </p:nvSpPr>
        <p:spPr>
          <a:xfrm>
            <a:off x="731520" y="868680"/>
            <a:ext cx="10515600" cy="320040"/>
          </a:xfrm>
          <a:prstGeom prst="rect">
            <a:avLst/>
          </a:prstGeom>
          <a:noFill/>
        </p:spPr>
        <p:txBody>
          <a:bodyPr wrap="none">
            <a:spAutoFit/>
          </a:bodyPr>
          <a:lstStyle/>
          <a:p>
            <a:pPr>
              <a:defRPr sz="1000" b="1">
                <a:solidFill>
                  <a:srgbClr val="D97706"/>
                </a:solidFill>
                <a:latin typeface="Segoe UI"/>
              </a:defRPr>
            </a:pPr>
            <a:r>
              <a:t>LIVE DEMONSTRATION 01</a:t>
            </a:r>
          </a:p>
        </p:txBody>
      </p:sp>
      <p:sp>
        <p:nvSpPr>
          <p:cNvPr id="7" name="TextBox 6"/>
          <p:cNvSpPr txBox="1"/>
          <p:nvPr/>
        </p:nvSpPr>
        <p:spPr>
          <a:xfrm>
            <a:off x="731520" y="1115568"/>
            <a:ext cx="10515600" cy="594360"/>
          </a:xfrm>
          <a:prstGeom prst="rect">
            <a:avLst/>
          </a:prstGeom>
          <a:noFill/>
        </p:spPr>
        <p:txBody>
          <a:bodyPr wrap="none">
            <a:spAutoFit/>
          </a:bodyPr>
          <a:lstStyle/>
          <a:p>
            <a:pPr>
              <a:defRPr sz="2600" b="1">
                <a:solidFill>
                  <a:srgbClr val="0F172A"/>
                </a:solidFill>
                <a:latin typeface="Segoe UI"/>
              </a:defRPr>
            </a:pPr>
            <a:r>
              <a:t>Sub-Second Offline Semantic Search</a:t>
            </a:r>
          </a:p>
        </p:txBody>
      </p:sp>
      <p:sp>
        <p:nvSpPr>
          <p:cNvPr id="8" name="TextBox 7"/>
          <p:cNvSpPr txBox="1"/>
          <p:nvPr/>
        </p:nvSpPr>
        <p:spPr>
          <a:xfrm>
            <a:off x="731520" y="1691640"/>
            <a:ext cx="10515600" cy="411480"/>
          </a:xfrm>
          <a:prstGeom prst="rect">
            <a:avLst/>
          </a:prstGeom>
          <a:noFill/>
        </p:spPr>
        <p:txBody>
          <a:bodyPr wrap="none">
            <a:spAutoFit/>
          </a:bodyPr>
          <a:lstStyle/>
          <a:p>
            <a:pPr>
              <a:defRPr sz="1300">
                <a:solidFill>
                  <a:srgbClr val="475569"/>
                </a:solidFill>
                <a:latin typeface="Calibri"/>
              </a:defRPr>
            </a:pPr>
            <a:r>
              <a:t>Tested in Airplane Mode: Instant retrieval of Dave Miller's tribal workaround.</a:t>
            </a:r>
          </a:p>
        </p:txBody>
      </p:sp>
      <p:pic>
        <p:nvPicPr>
          <p:cNvPr id="9" name="Picture 8" descr="01_offline_search.png"/>
          <p:cNvPicPr>
            <a:picLocks noChangeAspect="1"/>
          </p:cNvPicPr>
          <p:nvPr/>
        </p:nvPicPr>
        <p:blipFill>
          <a:blip r:embed="rId2"/>
          <a:stretch>
            <a:fillRect/>
          </a:stretch>
        </p:blipFill>
        <p:spPr>
          <a:xfrm>
            <a:off x="731520" y="2240280"/>
            <a:ext cx="6583680" cy="4389120"/>
          </a:xfrm>
          <a:prstGeom prst="rect">
            <a:avLst/>
          </a:prstGeom>
        </p:spPr>
      </p:pic>
      <p:sp>
        <p:nvSpPr>
          <p:cNvPr id="10" name="Rounded Rectangle 9"/>
          <p:cNvSpPr/>
          <p:nvPr/>
        </p:nvSpPr>
        <p:spPr>
          <a:xfrm>
            <a:off x="7589520" y="2240280"/>
            <a:ext cx="384048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2468880"/>
            <a:ext cx="3383280" cy="3474720"/>
          </a:xfrm>
          <a:prstGeom prst="rect">
            <a:avLst/>
          </a:prstGeom>
          <a:noFill/>
        </p:spPr>
        <p:txBody>
          <a:bodyPr wrap="square">
            <a:spAutoFit/>
          </a:bodyPr>
          <a:lstStyle/>
          <a:p>
            <a:pPr>
              <a:spcAft>
                <a:spcPts val="1400"/>
              </a:spcAft>
              <a:defRPr sz="1800" b="1">
                <a:solidFill>
                  <a:srgbClr val="0F172A"/>
                </a:solidFill>
                <a:latin typeface="Segoe UI"/>
              </a:defRPr>
            </a:pPr>
            <a:r>
              <a:t>Key Verification Proofs</a:t>
            </a:r>
          </a:p>
          <a:p>
            <a:pPr>
              <a:defRPr sz="1300" b="1">
                <a:solidFill>
                  <a:srgbClr val="DC2626"/>
                </a:solidFill>
                <a:latin typeface="Segoe UI"/>
              </a:defRPr>
            </a:pPr>
            <a:r>
              <a:t>✓ Zero Cloud Calls in Offline Mode</a:t>
            </a:r>
          </a:p>
          <a:p>
            <a:pPr>
              <a:spcAft>
                <a:spcPts val="1000"/>
              </a:spcAft>
              <a:defRPr sz="1100">
                <a:solidFill>
                  <a:srgbClr val="475569"/>
                </a:solidFill>
                <a:latin typeface="Calibri"/>
              </a:defRPr>
            </a:pPr>
            <a:r>
              <a:t>   Application-level offline enforcement verified; zero external HTTP calls during search.</a:t>
            </a:r>
          </a:p>
          <a:p>
            <a:pPr>
              <a:defRPr sz="1300" b="1">
                <a:solidFill>
                  <a:srgbClr val="D97706"/>
                </a:solidFill>
                <a:latin typeface="Segoe UI"/>
              </a:defRPr>
            </a:pPr>
            <a:r>
              <a:t>✓ Observed Latency &lt;150ms Warm</a:t>
            </a:r>
          </a:p>
          <a:p>
            <a:pPr>
              <a:spcAft>
                <a:spcPts val="1000"/>
              </a:spcAft>
              <a:defRPr sz="1100">
                <a:solidFill>
                  <a:srgbClr val="475569"/>
                </a:solidFill>
                <a:latin typeface="Calibri"/>
              </a:defRPr>
            </a:pPr>
            <a:r>
              <a:t>   End-to-end local search latency (&lt;150ms warm cache) including ONNX vectorization and EdgeShard retrieval.</a:t>
            </a:r>
          </a:p>
          <a:p>
            <a:pPr>
              <a:defRPr sz="1300" b="1">
                <a:solidFill>
                  <a:srgbClr val="059669"/>
                </a:solidFill>
                <a:latin typeface="Segoe UI"/>
              </a:defRPr>
            </a:pPr>
            <a:r>
              <a:t>✓ High Semantic Similarity</a:t>
            </a:r>
          </a:p>
          <a:p>
            <a:pPr>
              <a:spcAft>
                <a:spcPts val="1000"/>
              </a:spcAft>
              <a:defRPr sz="1100">
                <a:solidFill>
                  <a:srgbClr val="475569"/>
                </a:solidFill>
                <a:latin typeface="Calibri"/>
              </a:defRPr>
            </a:pPr>
            <a:r>
              <a:t>   Top rank delivers Dave Miller's Viton bypass seal workaround in Bin 14, bypassing OEM manual ambiguity.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4114800" cy="457200"/>
          </a:xfrm>
          <a:prstGeom prst="rect">
            <a:avLst/>
          </a:prstGeom>
          <a:noFill/>
        </p:spPr>
        <p:txBody>
          <a:bodyPr wrap="square">
            <a:spAutoFit/>
          </a:bodyPr>
          <a:lstStyle/>
          <a:p>
            <a:pPr>
              <a:defRPr sz="1500" b="1">
                <a:solidFill>
                  <a:srgbClr val="0F172A"/>
                </a:solidFill>
                <a:latin typeface="Segoe UI"/>
              </a:defRPr>
            </a:pPr>
            <a:r>
              <a:t>🏭 PlantMind Edge  </a:t>
            </a:r>
            <a:r>
              <a:rPr sz="1100" b="1">
                <a:solidFill>
                  <a:srgbClr val="D97706"/>
                </a:solidFill>
                <a:latin typeface="Calibri"/>
              </a:rPr>
              <a:t>[ Qdrant Hackathon ]</a:t>
            </a:r>
          </a:p>
        </p:txBody>
      </p:sp>
      <p:sp>
        <p:nvSpPr>
          <p:cNvPr id="4" name="TextBox 3"/>
          <p:cNvSpPr txBox="1"/>
          <p:nvPr/>
        </p:nvSpPr>
        <p:spPr>
          <a:xfrm>
            <a:off x="4389120" y="164592"/>
            <a:ext cx="4023360" cy="411480"/>
          </a:xfrm>
          <a:prstGeom prst="rect">
            <a:avLst/>
          </a:prstGeom>
          <a:noFill/>
        </p:spPr>
        <p:txBody>
          <a:bodyPr wrap="none">
            <a:spAutoFit/>
          </a:bodyPr>
          <a:lstStyle/>
          <a:p>
            <a:pPr algn="ctr">
              <a:defRPr sz="1100">
                <a:solidFill>
                  <a:srgbClr val="475569"/>
                </a:solidFill>
                <a:latin typeface="Calibri"/>
              </a:defRPr>
            </a:pPr>
            <a:r>
              <a:t>Official qdrant-edge-py 0.8.0 Showcase</a:t>
            </a:r>
          </a:p>
        </p:txBody>
      </p:sp>
      <p:sp>
        <p:nvSpPr>
          <p:cNvPr id="5" name="TextBox 4"/>
          <p:cNvSpPr txBox="1"/>
          <p:nvPr/>
        </p:nvSpPr>
        <p:spPr>
          <a:xfrm>
            <a:off x="8412480" y="164592"/>
            <a:ext cx="3200400" cy="411480"/>
          </a:xfrm>
          <a:prstGeom prst="rect">
            <a:avLst/>
          </a:prstGeom>
          <a:noFill/>
        </p:spPr>
        <p:txBody>
          <a:bodyPr wrap="none">
            <a:spAutoFit/>
          </a:bodyPr>
          <a:lstStyle/>
          <a:p>
            <a:pPr algn="r">
              <a:defRPr sz="1100" b="1">
                <a:solidFill>
                  <a:srgbClr val="475569"/>
                </a:solidFill>
                <a:latin typeface="Calibri"/>
              </a:defRPr>
            </a:pPr>
            <a:r>
              <a:t>🎙️ Indian English | Slide 05 / 09</a:t>
            </a:r>
          </a:p>
        </p:txBody>
      </p:sp>
      <p:sp>
        <p:nvSpPr>
          <p:cNvPr id="6" name="TextBox 5"/>
          <p:cNvSpPr txBox="1"/>
          <p:nvPr/>
        </p:nvSpPr>
        <p:spPr>
          <a:xfrm>
            <a:off x="731520" y="868680"/>
            <a:ext cx="10515600" cy="320040"/>
          </a:xfrm>
          <a:prstGeom prst="rect">
            <a:avLst/>
          </a:prstGeom>
          <a:noFill/>
        </p:spPr>
        <p:txBody>
          <a:bodyPr wrap="none">
            <a:spAutoFit/>
          </a:bodyPr>
          <a:lstStyle/>
          <a:p>
            <a:pPr>
              <a:defRPr sz="1000" b="1">
                <a:solidFill>
                  <a:srgbClr val="D97706"/>
                </a:solidFill>
                <a:latin typeface="Segoe UI"/>
              </a:defRPr>
            </a:pPr>
            <a:r>
              <a:t>LIVE DEMONSTRATION 02</a:t>
            </a:r>
          </a:p>
        </p:txBody>
      </p:sp>
      <p:sp>
        <p:nvSpPr>
          <p:cNvPr id="7" name="TextBox 6"/>
          <p:cNvSpPr txBox="1"/>
          <p:nvPr/>
        </p:nvSpPr>
        <p:spPr>
          <a:xfrm>
            <a:off x="731520" y="1115568"/>
            <a:ext cx="10515600" cy="594360"/>
          </a:xfrm>
          <a:prstGeom prst="rect">
            <a:avLst/>
          </a:prstGeom>
          <a:noFill/>
        </p:spPr>
        <p:txBody>
          <a:bodyPr wrap="none">
            <a:spAutoFit/>
          </a:bodyPr>
          <a:lstStyle/>
          <a:p>
            <a:pPr>
              <a:defRPr sz="2600" b="1">
                <a:solidFill>
                  <a:srgbClr val="0F172A"/>
                </a:solidFill>
                <a:latin typeface="Segoe UI"/>
              </a:defRPr>
            </a:pPr>
            <a:r>
              <a:t>On-Floor Capture &amp; Deliberate Data Sovereignty</a:t>
            </a:r>
          </a:p>
        </p:txBody>
      </p:sp>
      <p:sp>
        <p:nvSpPr>
          <p:cNvPr id="8" name="TextBox 7"/>
          <p:cNvSpPr txBox="1"/>
          <p:nvPr/>
        </p:nvSpPr>
        <p:spPr>
          <a:xfrm>
            <a:off x="731520" y="1691640"/>
            <a:ext cx="10515600" cy="411480"/>
          </a:xfrm>
          <a:prstGeom prst="rect">
            <a:avLst/>
          </a:prstGeom>
          <a:noFill/>
        </p:spPr>
        <p:txBody>
          <a:bodyPr wrap="none">
            <a:spAutoFit/>
          </a:bodyPr>
          <a:lstStyle/>
          <a:p>
            <a:pPr>
              <a:defRPr sz="1300">
                <a:solidFill>
                  <a:srgbClr val="475569"/>
                </a:solidFill>
                <a:latin typeface="Calibri"/>
              </a:defRPr>
            </a:pPr>
            <a:r>
              <a:t>Capturing observations instantly while giving technicians control over what syncs.</a:t>
            </a:r>
          </a:p>
        </p:txBody>
      </p:sp>
      <p:pic>
        <p:nvPicPr>
          <p:cNvPr id="9" name="Picture 8" descr="02_append_only_write.png"/>
          <p:cNvPicPr>
            <a:picLocks noChangeAspect="1"/>
          </p:cNvPicPr>
          <p:nvPr/>
        </p:nvPicPr>
        <p:blipFill>
          <a:blip r:embed="rId2"/>
          <a:stretch>
            <a:fillRect/>
          </a:stretch>
        </p:blipFill>
        <p:spPr>
          <a:xfrm>
            <a:off x="731520" y="2240280"/>
            <a:ext cx="6583680" cy="4389120"/>
          </a:xfrm>
          <a:prstGeom prst="rect">
            <a:avLst/>
          </a:prstGeom>
        </p:spPr>
      </p:pic>
      <p:sp>
        <p:nvSpPr>
          <p:cNvPr id="10" name="Rounded Rectangle 9"/>
          <p:cNvSpPr/>
          <p:nvPr/>
        </p:nvSpPr>
        <p:spPr>
          <a:xfrm>
            <a:off x="7589520" y="2240280"/>
            <a:ext cx="384048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2468880"/>
            <a:ext cx="3383280" cy="3474720"/>
          </a:xfrm>
          <a:prstGeom prst="rect">
            <a:avLst/>
          </a:prstGeom>
          <a:noFill/>
        </p:spPr>
        <p:txBody>
          <a:bodyPr wrap="square">
            <a:spAutoFit/>
          </a:bodyPr>
          <a:lstStyle/>
          <a:p>
            <a:pPr>
              <a:spcAft>
                <a:spcPts val="1400"/>
              </a:spcAft>
              <a:defRPr sz="1800" b="1">
                <a:solidFill>
                  <a:srgbClr val="0F172A"/>
                </a:solidFill>
                <a:latin typeface="Segoe UI"/>
              </a:defRPr>
            </a:pPr>
            <a:r>
              <a:t>Sovereignty by Design</a:t>
            </a:r>
          </a:p>
          <a:p>
            <a:pPr>
              <a:defRPr sz="1300" b="1">
                <a:solidFill>
                  <a:srgbClr val="D97706"/>
                </a:solidFill>
                <a:latin typeface="Segoe UI"/>
              </a:defRPr>
            </a:pPr>
            <a:r>
              <a:t>✓ Persistent Append-Only Staging Log</a:t>
            </a:r>
          </a:p>
          <a:p>
            <a:pPr>
              <a:spcAft>
                <a:spcPts val="1000"/>
              </a:spcAft>
              <a:defRPr sz="1100">
                <a:solidFill>
                  <a:srgbClr val="475569"/>
                </a:solidFill>
                <a:latin typeface="Calibri"/>
              </a:defRPr>
            </a:pPr>
            <a:r>
              <a:t>   Every floor observation is staged locally with sequence tracking (#1042) ensuring an audit trail.</a:t>
            </a:r>
          </a:p>
          <a:p>
            <a:pPr>
              <a:defRPr sz="1300" b="1">
                <a:solidFill>
                  <a:srgbClr val="2563EB"/>
                </a:solidFill>
                <a:latin typeface="Segoe UI"/>
              </a:defRPr>
            </a:pPr>
            <a:r>
              <a:t>✓ 'Keep Local Until Reviewed' Flag</a:t>
            </a:r>
          </a:p>
          <a:p>
            <a:pPr>
              <a:spcAft>
                <a:spcPts val="1000"/>
              </a:spcAft>
              <a:defRPr sz="1100">
                <a:solidFill>
                  <a:srgbClr val="475569"/>
                </a:solidFill>
                <a:latin typeface="Calibri"/>
              </a:defRPr>
            </a:pPr>
            <a:r>
              <a:t>   Technicians can deliberately isolate unverified or rough notes from syncing to the central master.</a:t>
            </a:r>
          </a:p>
          <a:p>
            <a:pPr>
              <a:defRPr sz="1300" b="1">
                <a:solidFill>
                  <a:srgbClr val="059669"/>
                </a:solidFill>
                <a:latin typeface="Segoe UI"/>
              </a:defRPr>
            </a:pPr>
            <a:r>
              <a:t>✓ Immediate Local Vector Indexing</a:t>
            </a:r>
          </a:p>
          <a:p>
            <a:pPr>
              <a:spcAft>
                <a:spcPts val="1000"/>
              </a:spcAft>
              <a:defRPr sz="1100">
                <a:solidFill>
                  <a:srgbClr val="475569"/>
                </a:solidFill>
                <a:latin typeface="Calibri"/>
              </a:defRPr>
            </a:pPr>
            <a:r>
              <a:t>   New observations are embedded on-device and searchable locally in milliseconds before any sync.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4114800" cy="457200"/>
          </a:xfrm>
          <a:prstGeom prst="rect">
            <a:avLst/>
          </a:prstGeom>
          <a:noFill/>
        </p:spPr>
        <p:txBody>
          <a:bodyPr wrap="square">
            <a:spAutoFit/>
          </a:bodyPr>
          <a:lstStyle/>
          <a:p>
            <a:pPr>
              <a:defRPr sz="1500" b="1">
                <a:solidFill>
                  <a:srgbClr val="0F172A"/>
                </a:solidFill>
                <a:latin typeface="Segoe UI"/>
              </a:defRPr>
            </a:pPr>
            <a:r>
              <a:t>🏭 PlantMind Edge  </a:t>
            </a:r>
            <a:r>
              <a:rPr sz="1100" b="1">
                <a:solidFill>
                  <a:srgbClr val="D97706"/>
                </a:solidFill>
                <a:latin typeface="Calibri"/>
              </a:rPr>
              <a:t>[ Qdrant Hackathon ]</a:t>
            </a:r>
          </a:p>
        </p:txBody>
      </p:sp>
      <p:sp>
        <p:nvSpPr>
          <p:cNvPr id="4" name="TextBox 3"/>
          <p:cNvSpPr txBox="1"/>
          <p:nvPr/>
        </p:nvSpPr>
        <p:spPr>
          <a:xfrm>
            <a:off x="4389120" y="164592"/>
            <a:ext cx="4023360" cy="411480"/>
          </a:xfrm>
          <a:prstGeom prst="rect">
            <a:avLst/>
          </a:prstGeom>
          <a:noFill/>
        </p:spPr>
        <p:txBody>
          <a:bodyPr wrap="none">
            <a:spAutoFit/>
          </a:bodyPr>
          <a:lstStyle/>
          <a:p>
            <a:pPr algn="ctr">
              <a:defRPr sz="1100">
                <a:solidFill>
                  <a:srgbClr val="475569"/>
                </a:solidFill>
                <a:latin typeface="Calibri"/>
              </a:defRPr>
            </a:pPr>
            <a:r>
              <a:t>Official qdrant-edge-py 0.8.0 Showcase</a:t>
            </a:r>
          </a:p>
        </p:txBody>
      </p:sp>
      <p:sp>
        <p:nvSpPr>
          <p:cNvPr id="5" name="TextBox 4"/>
          <p:cNvSpPr txBox="1"/>
          <p:nvPr/>
        </p:nvSpPr>
        <p:spPr>
          <a:xfrm>
            <a:off x="8412480" y="164592"/>
            <a:ext cx="3200400" cy="411480"/>
          </a:xfrm>
          <a:prstGeom prst="rect">
            <a:avLst/>
          </a:prstGeom>
          <a:noFill/>
        </p:spPr>
        <p:txBody>
          <a:bodyPr wrap="none">
            <a:spAutoFit/>
          </a:bodyPr>
          <a:lstStyle/>
          <a:p>
            <a:pPr algn="r">
              <a:defRPr sz="1100" b="1">
                <a:solidFill>
                  <a:srgbClr val="475569"/>
                </a:solidFill>
                <a:latin typeface="Calibri"/>
              </a:defRPr>
            </a:pPr>
            <a:r>
              <a:t>🎙️ Indian English | Slide 06 / 09</a:t>
            </a:r>
          </a:p>
        </p:txBody>
      </p:sp>
      <p:sp>
        <p:nvSpPr>
          <p:cNvPr id="6" name="TextBox 5"/>
          <p:cNvSpPr txBox="1"/>
          <p:nvPr/>
        </p:nvSpPr>
        <p:spPr>
          <a:xfrm>
            <a:off x="731520" y="868680"/>
            <a:ext cx="10515600" cy="320040"/>
          </a:xfrm>
          <a:prstGeom prst="rect">
            <a:avLst/>
          </a:prstGeom>
          <a:noFill/>
        </p:spPr>
        <p:txBody>
          <a:bodyPr wrap="none">
            <a:spAutoFit/>
          </a:bodyPr>
          <a:lstStyle/>
          <a:p>
            <a:pPr>
              <a:defRPr sz="1000" b="1">
                <a:solidFill>
                  <a:srgbClr val="D97706"/>
                </a:solidFill>
                <a:latin typeface="Segoe UI"/>
              </a:defRPr>
            </a:pPr>
            <a:r>
              <a:t>DEVICE ENGINEERING</a:t>
            </a:r>
          </a:p>
        </p:txBody>
      </p:sp>
      <p:sp>
        <p:nvSpPr>
          <p:cNvPr id="7" name="TextBox 6"/>
          <p:cNvSpPr txBox="1"/>
          <p:nvPr/>
        </p:nvSpPr>
        <p:spPr>
          <a:xfrm>
            <a:off x="731520" y="1115568"/>
            <a:ext cx="10515600" cy="594360"/>
          </a:xfrm>
          <a:prstGeom prst="rect">
            <a:avLst/>
          </a:prstGeom>
          <a:noFill/>
        </p:spPr>
        <p:txBody>
          <a:bodyPr wrap="none">
            <a:spAutoFit/>
          </a:bodyPr>
          <a:lstStyle/>
          <a:p>
            <a:pPr>
              <a:defRPr sz="2600" b="1">
                <a:solidFill>
                  <a:srgbClr val="0F172A"/>
                </a:solidFill>
                <a:latin typeface="Segoe UI"/>
              </a:defRPr>
            </a:pPr>
            <a:r>
              <a:t>Constrained Device Memory &amp; Storage Inspector</a:t>
            </a:r>
          </a:p>
        </p:txBody>
      </p:sp>
      <p:sp>
        <p:nvSpPr>
          <p:cNvPr id="8" name="TextBox 7"/>
          <p:cNvSpPr txBox="1"/>
          <p:nvPr/>
        </p:nvSpPr>
        <p:spPr>
          <a:xfrm>
            <a:off x="731520" y="1691640"/>
            <a:ext cx="10515600" cy="411480"/>
          </a:xfrm>
          <a:prstGeom prst="rect">
            <a:avLst/>
          </a:prstGeom>
          <a:noFill/>
        </p:spPr>
        <p:txBody>
          <a:bodyPr wrap="none">
            <a:spAutoFit/>
          </a:bodyPr>
          <a:lstStyle/>
          <a:p>
            <a:pPr>
              <a:defRPr sz="1300">
                <a:solidFill>
                  <a:srgbClr val="475569"/>
                </a:solidFill>
                <a:latin typeface="Calibri"/>
              </a:defRPr>
            </a:pPr>
            <a:r>
              <a:t>Monitoring native Qdrant Edge shard files, WAL, and vector index health.</a:t>
            </a:r>
          </a:p>
        </p:txBody>
      </p:sp>
      <p:pic>
        <p:nvPicPr>
          <p:cNvPr id="9" name="Picture 8" descr="03_device_memory_inspector.png"/>
          <p:cNvPicPr>
            <a:picLocks noChangeAspect="1"/>
          </p:cNvPicPr>
          <p:nvPr/>
        </p:nvPicPr>
        <p:blipFill>
          <a:blip r:embed="rId2"/>
          <a:stretch>
            <a:fillRect/>
          </a:stretch>
        </p:blipFill>
        <p:spPr>
          <a:xfrm>
            <a:off x="731520" y="2240280"/>
            <a:ext cx="6583680" cy="4389120"/>
          </a:xfrm>
          <a:prstGeom prst="rect">
            <a:avLst/>
          </a:prstGeom>
        </p:spPr>
      </p:pic>
      <p:sp>
        <p:nvSpPr>
          <p:cNvPr id="10" name="Rounded Rectangle 9"/>
          <p:cNvSpPr/>
          <p:nvPr/>
        </p:nvSpPr>
        <p:spPr>
          <a:xfrm>
            <a:off x="7589520" y="2240280"/>
            <a:ext cx="384048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2468880"/>
            <a:ext cx="3383280" cy="3474720"/>
          </a:xfrm>
          <a:prstGeom prst="rect">
            <a:avLst/>
          </a:prstGeom>
          <a:noFill/>
        </p:spPr>
        <p:txBody>
          <a:bodyPr wrap="square">
            <a:spAutoFit/>
          </a:bodyPr>
          <a:lstStyle/>
          <a:p>
            <a:pPr>
              <a:spcAft>
                <a:spcPts val="1400"/>
              </a:spcAft>
              <a:defRPr sz="1800" b="1">
                <a:solidFill>
                  <a:srgbClr val="0F172A"/>
                </a:solidFill>
                <a:latin typeface="Segoe UI"/>
              </a:defRPr>
            </a:pPr>
            <a:r>
              <a:t>Native Shard Telemetry</a:t>
            </a:r>
          </a:p>
          <a:p>
            <a:pPr>
              <a:defRPr sz="1300" b="1">
                <a:solidFill>
                  <a:srgbClr val="059669"/>
                </a:solidFill>
                <a:latin typeface="Segoe UI"/>
              </a:defRPr>
            </a:pPr>
            <a:r>
              <a:t>✓ Observed Local CPU Response</a:t>
            </a:r>
          </a:p>
          <a:p>
            <a:pPr>
              <a:spcAft>
                <a:spcPts val="1000"/>
              </a:spcAft>
              <a:defRPr sz="1100">
                <a:solidFill>
                  <a:srgbClr val="475569"/>
                </a:solidFill>
                <a:latin typeface="Calibri"/>
              </a:defRPr>
            </a:pPr>
            <a:r>
              <a:t>   Direct local vectorization and native EdgeShard retrieval execute with zero cloud roundtrips.</a:t>
            </a:r>
          </a:p>
          <a:p>
            <a:pPr>
              <a:defRPr sz="1300" b="1">
                <a:solidFill>
                  <a:srgbClr val="2563EB"/>
                </a:solidFill>
                <a:latin typeface="Segoe UI"/>
              </a:defRPr>
            </a:pPr>
            <a:r>
              <a:t>✓ Measured Local Shard Footprint</a:t>
            </a:r>
          </a:p>
          <a:p>
            <a:pPr>
              <a:spcAft>
                <a:spcPts val="1000"/>
              </a:spcAft>
              <a:defRPr sz="1100">
                <a:solidFill>
                  <a:srgbClr val="475569"/>
                </a:solidFill>
                <a:latin typeface="Calibri"/>
              </a:defRPr>
            </a:pPr>
            <a:r>
              <a:t>   Local shard directory occupies ~14–130 MB depending on WAL pre-allocation (32 MiB segment capacity) and dataset size.</a:t>
            </a:r>
          </a:p>
          <a:p>
            <a:pPr>
              <a:defRPr sz="1300" b="1">
                <a:solidFill>
                  <a:srgbClr val="D97706"/>
                </a:solidFill>
                <a:latin typeface="Segoe UI"/>
              </a:defRPr>
            </a:pPr>
            <a:r>
              <a:t>✓ Telemetry &amp; Storage Tracking</a:t>
            </a:r>
          </a:p>
          <a:p>
            <a:pPr>
              <a:spcAft>
                <a:spcPts val="1000"/>
              </a:spcAft>
              <a:defRPr sz="1100">
                <a:solidFill>
                  <a:srgbClr val="475569"/>
                </a:solidFill>
                <a:latin typeface="Calibri"/>
              </a:defRPr>
            </a:pPr>
            <a:r>
              <a:t>   Live on-device Memory Inspector monitors point counts, WAL growth, and pending sync buffers.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4114800" cy="457200"/>
          </a:xfrm>
          <a:prstGeom prst="rect">
            <a:avLst/>
          </a:prstGeom>
          <a:noFill/>
        </p:spPr>
        <p:txBody>
          <a:bodyPr wrap="square">
            <a:spAutoFit/>
          </a:bodyPr>
          <a:lstStyle/>
          <a:p>
            <a:pPr>
              <a:defRPr sz="1500" b="1">
                <a:solidFill>
                  <a:srgbClr val="0F172A"/>
                </a:solidFill>
                <a:latin typeface="Segoe UI"/>
              </a:defRPr>
            </a:pPr>
            <a:r>
              <a:t>🏭 PlantMind Edge  </a:t>
            </a:r>
            <a:r>
              <a:rPr sz="1100" b="1">
                <a:solidFill>
                  <a:srgbClr val="D97706"/>
                </a:solidFill>
                <a:latin typeface="Calibri"/>
              </a:rPr>
              <a:t>[ Qdrant Hackathon ]</a:t>
            </a:r>
          </a:p>
        </p:txBody>
      </p:sp>
      <p:sp>
        <p:nvSpPr>
          <p:cNvPr id="4" name="TextBox 3"/>
          <p:cNvSpPr txBox="1"/>
          <p:nvPr/>
        </p:nvSpPr>
        <p:spPr>
          <a:xfrm>
            <a:off x="4389120" y="164592"/>
            <a:ext cx="4023360" cy="411480"/>
          </a:xfrm>
          <a:prstGeom prst="rect">
            <a:avLst/>
          </a:prstGeom>
          <a:noFill/>
        </p:spPr>
        <p:txBody>
          <a:bodyPr wrap="none">
            <a:spAutoFit/>
          </a:bodyPr>
          <a:lstStyle/>
          <a:p>
            <a:pPr algn="ctr">
              <a:defRPr sz="1100">
                <a:solidFill>
                  <a:srgbClr val="475569"/>
                </a:solidFill>
                <a:latin typeface="Calibri"/>
              </a:defRPr>
            </a:pPr>
            <a:r>
              <a:t>Official qdrant-edge-py 0.8.0 Showcase</a:t>
            </a:r>
          </a:p>
        </p:txBody>
      </p:sp>
      <p:sp>
        <p:nvSpPr>
          <p:cNvPr id="5" name="TextBox 4"/>
          <p:cNvSpPr txBox="1"/>
          <p:nvPr/>
        </p:nvSpPr>
        <p:spPr>
          <a:xfrm>
            <a:off x="8412480" y="164592"/>
            <a:ext cx="3200400" cy="411480"/>
          </a:xfrm>
          <a:prstGeom prst="rect">
            <a:avLst/>
          </a:prstGeom>
          <a:noFill/>
        </p:spPr>
        <p:txBody>
          <a:bodyPr wrap="none">
            <a:spAutoFit/>
          </a:bodyPr>
          <a:lstStyle/>
          <a:p>
            <a:pPr algn="r">
              <a:defRPr sz="1100" b="1">
                <a:solidFill>
                  <a:srgbClr val="475569"/>
                </a:solidFill>
                <a:latin typeface="Calibri"/>
              </a:defRPr>
            </a:pPr>
            <a:r>
              <a:t>🎙️ Indian English | Slide 07 / 09</a:t>
            </a:r>
          </a:p>
        </p:txBody>
      </p:sp>
      <p:sp>
        <p:nvSpPr>
          <p:cNvPr id="6" name="TextBox 5"/>
          <p:cNvSpPr txBox="1"/>
          <p:nvPr/>
        </p:nvSpPr>
        <p:spPr>
          <a:xfrm>
            <a:off x="731520" y="868680"/>
            <a:ext cx="10515600" cy="320040"/>
          </a:xfrm>
          <a:prstGeom prst="rect">
            <a:avLst/>
          </a:prstGeom>
          <a:noFill/>
        </p:spPr>
        <p:txBody>
          <a:bodyPr wrap="none">
            <a:spAutoFit/>
          </a:bodyPr>
          <a:lstStyle/>
          <a:p>
            <a:pPr>
              <a:defRPr sz="1000" b="1">
                <a:solidFill>
                  <a:srgbClr val="D97706"/>
                </a:solidFill>
                <a:latin typeface="Segoe UI"/>
              </a:defRPr>
            </a:pPr>
            <a:r>
              <a:t>SAFETY CRITICAL ARCHITECTURE</a:t>
            </a:r>
          </a:p>
        </p:txBody>
      </p:sp>
      <p:sp>
        <p:nvSpPr>
          <p:cNvPr id="7" name="TextBox 6"/>
          <p:cNvSpPr txBox="1"/>
          <p:nvPr/>
        </p:nvSpPr>
        <p:spPr>
          <a:xfrm>
            <a:off x="731520" y="1115568"/>
            <a:ext cx="10515600" cy="594360"/>
          </a:xfrm>
          <a:prstGeom prst="rect">
            <a:avLst/>
          </a:prstGeom>
          <a:noFill/>
        </p:spPr>
        <p:txBody>
          <a:bodyPr wrap="none">
            <a:spAutoFit/>
          </a:bodyPr>
          <a:lstStyle/>
          <a:p>
            <a:pPr>
              <a:defRPr sz="2600" b="1">
                <a:solidFill>
                  <a:srgbClr val="0F172A"/>
                </a:solidFill>
                <a:latin typeface="Segoe UI"/>
              </a:defRPr>
            </a:pPr>
            <a:r>
              <a:t>Groq LLaMA: No Silent Safety Overwrites</a:t>
            </a:r>
          </a:p>
        </p:txBody>
      </p:sp>
      <p:sp>
        <p:nvSpPr>
          <p:cNvPr id="8" name="TextBox 7"/>
          <p:cNvSpPr txBox="1"/>
          <p:nvPr/>
        </p:nvSpPr>
        <p:spPr>
          <a:xfrm>
            <a:off x="731520" y="1691640"/>
            <a:ext cx="10515600" cy="411480"/>
          </a:xfrm>
          <a:prstGeom prst="rect">
            <a:avLst/>
          </a:prstGeom>
          <a:noFill/>
        </p:spPr>
        <p:txBody>
          <a:bodyPr wrap="none">
            <a:spAutoFit/>
          </a:bodyPr>
          <a:lstStyle/>
          <a:p>
            <a:pPr>
              <a:defRPr sz="1300">
                <a:solidFill>
                  <a:srgbClr val="475569"/>
                </a:solidFill>
                <a:latin typeface="Calibri"/>
              </a:defRPr>
            </a:pPr>
            <a:r>
              <a:t>Safety-critical procedure updates require human review and AI risk reasoning.</a:t>
            </a:r>
          </a:p>
        </p:txBody>
      </p:sp>
      <p:pic>
        <p:nvPicPr>
          <p:cNvPr id="9" name="Picture 8" descr="04_conflict_reconciliation.png"/>
          <p:cNvPicPr>
            <a:picLocks noChangeAspect="1"/>
          </p:cNvPicPr>
          <p:nvPr/>
        </p:nvPicPr>
        <p:blipFill>
          <a:blip r:embed="rId2"/>
          <a:stretch>
            <a:fillRect/>
          </a:stretch>
        </p:blipFill>
        <p:spPr>
          <a:xfrm>
            <a:off x="731520" y="2240280"/>
            <a:ext cx="6583680" cy="4389120"/>
          </a:xfrm>
          <a:prstGeom prst="rect">
            <a:avLst/>
          </a:prstGeom>
        </p:spPr>
      </p:pic>
      <p:sp>
        <p:nvSpPr>
          <p:cNvPr id="10" name="Rounded Rectangle 9"/>
          <p:cNvSpPr/>
          <p:nvPr/>
        </p:nvSpPr>
        <p:spPr>
          <a:xfrm>
            <a:off x="7589520" y="2240280"/>
            <a:ext cx="3840480" cy="3931920"/>
          </a:xfrm>
          <a:prstGeom prst="roundRect">
            <a:avLst/>
          </a:prstGeom>
          <a:solidFill>
            <a:srgbClr val="FFFFFF"/>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2468880"/>
            <a:ext cx="3383280" cy="3474720"/>
          </a:xfrm>
          <a:prstGeom prst="rect">
            <a:avLst/>
          </a:prstGeom>
          <a:noFill/>
        </p:spPr>
        <p:txBody>
          <a:bodyPr wrap="square">
            <a:spAutoFit/>
          </a:bodyPr>
          <a:lstStyle/>
          <a:p>
            <a:pPr>
              <a:defRPr sz="1300" b="1">
                <a:solidFill>
                  <a:srgbClr val="DC2626"/>
                </a:solidFill>
                <a:latin typeface="Segoe UI"/>
              </a:defRPr>
            </a:pPr>
            <a:r>
              <a:t>⚠️ SAFETY PRINCIPLE</a:t>
            </a:r>
          </a:p>
          <a:p>
            <a:pPr>
              <a:spcAft>
                <a:spcPts val="1200"/>
              </a:spcAft>
              <a:defRPr sz="1200" b="1">
                <a:solidFill>
                  <a:srgbClr val="0F172A"/>
                </a:solidFill>
                <a:latin typeface="Segoe UI"/>
              </a:defRPr>
            </a:pPr>
            <a:r>
              <a:t>"Safety-critical updates require human review — preventing silent overwrites on factory procedures."</a:t>
            </a:r>
          </a:p>
          <a:p>
            <a:pPr>
              <a:defRPr sz="1200" b="1">
                <a:solidFill>
                  <a:srgbClr val="DC2626"/>
                </a:solidFill>
                <a:latin typeface="Segoe UI"/>
              </a:defRPr>
            </a:pPr>
            <a:r>
              <a:t>• Omission Flagged by LLaMA-3.3</a:t>
            </a:r>
          </a:p>
          <a:p>
            <a:pPr>
              <a:spcAft>
                <a:spcPts val="800"/>
              </a:spcAft>
              <a:defRPr sz="1100">
                <a:solidFill>
                  <a:srgbClr val="475569"/>
                </a:solidFill>
                <a:latin typeface="Calibri"/>
              </a:defRPr>
            </a:pPr>
            <a:r>
              <a:t>  Version B omitted the mandatory 10-minute cool-down cycle to rush tool changes.</a:t>
            </a:r>
          </a:p>
          <a:p>
            <a:pPr>
              <a:defRPr sz="1200" b="1">
                <a:solidFill>
                  <a:srgbClr val="D97706"/>
                </a:solidFill>
                <a:latin typeface="Segoe UI"/>
              </a:defRPr>
            </a:pPr>
            <a:r>
              <a:t>• Severe Hazard Warning</a:t>
            </a:r>
          </a:p>
          <a:p>
            <a:pPr>
              <a:spcAft>
                <a:spcPts val="800"/>
              </a:spcAft>
              <a:defRPr sz="1100">
                <a:solidFill>
                  <a:srgbClr val="475569"/>
                </a:solidFill>
                <a:latin typeface="Calibri"/>
              </a:defRPr>
            </a:pPr>
            <a:r>
              <a:t>  LLaMA flags risk of 500-bar hydraulic injection and flash fire hazard under hot manifold conditions.</a:t>
            </a:r>
          </a:p>
          <a:p>
            <a:pPr>
              <a:defRPr sz="1200" b="1">
                <a:solidFill>
                  <a:srgbClr val="059669"/>
                </a:solidFill>
                <a:latin typeface="Segoe UI"/>
              </a:defRPr>
            </a:pPr>
            <a:r>
              <a:t>• One-Click Human Reconciliation</a:t>
            </a:r>
          </a:p>
          <a:p>
            <a:pPr>
              <a:spcAft>
                <a:spcPts val="800"/>
              </a:spcAft>
              <a:defRPr sz="1100">
                <a:solidFill>
                  <a:srgbClr val="475569"/>
                </a:solidFill>
                <a:latin typeface="Calibri"/>
              </a:defRPr>
            </a:pPr>
            <a:r>
              <a:t>  Knowledge manager accepts Version A; standard instantly broadcasts across all plant edge tablets.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4114800" cy="457200"/>
          </a:xfrm>
          <a:prstGeom prst="rect">
            <a:avLst/>
          </a:prstGeom>
          <a:noFill/>
        </p:spPr>
        <p:txBody>
          <a:bodyPr wrap="square">
            <a:spAutoFit/>
          </a:bodyPr>
          <a:lstStyle/>
          <a:p>
            <a:pPr>
              <a:defRPr sz="1500" b="1">
                <a:solidFill>
                  <a:srgbClr val="0F172A"/>
                </a:solidFill>
                <a:latin typeface="Segoe UI"/>
              </a:defRPr>
            </a:pPr>
            <a:r>
              <a:t>🏭 PlantMind Edge  </a:t>
            </a:r>
            <a:r>
              <a:rPr sz="1100" b="1">
                <a:solidFill>
                  <a:srgbClr val="D97706"/>
                </a:solidFill>
                <a:latin typeface="Calibri"/>
              </a:rPr>
              <a:t>[ Qdrant Hackathon ]</a:t>
            </a:r>
          </a:p>
        </p:txBody>
      </p:sp>
      <p:sp>
        <p:nvSpPr>
          <p:cNvPr id="4" name="TextBox 3"/>
          <p:cNvSpPr txBox="1"/>
          <p:nvPr/>
        </p:nvSpPr>
        <p:spPr>
          <a:xfrm>
            <a:off x="4389120" y="164592"/>
            <a:ext cx="4023360" cy="411480"/>
          </a:xfrm>
          <a:prstGeom prst="rect">
            <a:avLst/>
          </a:prstGeom>
          <a:noFill/>
        </p:spPr>
        <p:txBody>
          <a:bodyPr wrap="none">
            <a:spAutoFit/>
          </a:bodyPr>
          <a:lstStyle/>
          <a:p>
            <a:pPr algn="ctr">
              <a:defRPr sz="1100">
                <a:solidFill>
                  <a:srgbClr val="475569"/>
                </a:solidFill>
                <a:latin typeface="Calibri"/>
              </a:defRPr>
            </a:pPr>
            <a:r>
              <a:t>Official qdrant-edge-py 0.8.0 Showcase</a:t>
            </a:r>
          </a:p>
        </p:txBody>
      </p:sp>
      <p:sp>
        <p:nvSpPr>
          <p:cNvPr id="5" name="TextBox 4"/>
          <p:cNvSpPr txBox="1"/>
          <p:nvPr/>
        </p:nvSpPr>
        <p:spPr>
          <a:xfrm>
            <a:off x="8412480" y="164592"/>
            <a:ext cx="3200400" cy="411480"/>
          </a:xfrm>
          <a:prstGeom prst="rect">
            <a:avLst/>
          </a:prstGeom>
          <a:noFill/>
        </p:spPr>
        <p:txBody>
          <a:bodyPr wrap="none">
            <a:spAutoFit/>
          </a:bodyPr>
          <a:lstStyle/>
          <a:p>
            <a:pPr algn="r">
              <a:defRPr sz="1100" b="1">
                <a:solidFill>
                  <a:srgbClr val="475569"/>
                </a:solidFill>
                <a:latin typeface="Calibri"/>
              </a:defRPr>
            </a:pPr>
            <a:r>
              <a:t>🎙️ Indian English | Slide 08 / 09</a:t>
            </a:r>
          </a:p>
        </p:txBody>
      </p:sp>
      <p:sp>
        <p:nvSpPr>
          <p:cNvPr id="6" name="TextBox 5"/>
          <p:cNvSpPr txBox="1"/>
          <p:nvPr/>
        </p:nvSpPr>
        <p:spPr>
          <a:xfrm>
            <a:off x="731520" y="868680"/>
            <a:ext cx="10515600" cy="320040"/>
          </a:xfrm>
          <a:prstGeom prst="rect">
            <a:avLst/>
          </a:prstGeom>
          <a:noFill/>
        </p:spPr>
        <p:txBody>
          <a:bodyPr wrap="none">
            <a:spAutoFit/>
          </a:bodyPr>
          <a:lstStyle/>
          <a:p>
            <a:pPr>
              <a:defRPr sz="1000" b="1">
                <a:solidFill>
                  <a:srgbClr val="D97706"/>
                </a:solidFill>
                <a:latin typeface="Segoe UI"/>
              </a:defRPr>
            </a:pPr>
            <a:r>
              <a:t>ENGINEERING RIGOR</a:t>
            </a:r>
          </a:p>
        </p:txBody>
      </p:sp>
      <p:sp>
        <p:nvSpPr>
          <p:cNvPr id="7" name="TextBox 6"/>
          <p:cNvSpPr txBox="1"/>
          <p:nvPr/>
        </p:nvSpPr>
        <p:spPr>
          <a:xfrm>
            <a:off x="731520" y="1115568"/>
            <a:ext cx="10515600" cy="594360"/>
          </a:xfrm>
          <a:prstGeom prst="rect">
            <a:avLst/>
          </a:prstGeom>
          <a:noFill/>
        </p:spPr>
        <p:txBody>
          <a:bodyPr wrap="none">
            <a:spAutoFit/>
          </a:bodyPr>
          <a:lstStyle/>
          <a:p>
            <a:pPr>
              <a:defRPr sz="2600" b="1">
                <a:solidFill>
                  <a:srgbClr val="0F172A"/>
                </a:solidFill>
                <a:latin typeface="Segoe UI"/>
              </a:defRPr>
            </a:pPr>
            <a:r>
              <a:t>Engineering Proof: Automated Verification Matrix</a:t>
            </a:r>
          </a:p>
        </p:txBody>
      </p:sp>
      <p:sp>
        <p:nvSpPr>
          <p:cNvPr id="8" name="TextBox 7"/>
          <p:cNvSpPr txBox="1"/>
          <p:nvPr/>
        </p:nvSpPr>
        <p:spPr>
          <a:xfrm>
            <a:off x="731520" y="1691640"/>
            <a:ext cx="10515600" cy="411480"/>
          </a:xfrm>
          <a:prstGeom prst="rect">
            <a:avLst/>
          </a:prstGeom>
          <a:noFill/>
        </p:spPr>
        <p:txBody>
          <a:bodyPr wrap="none">
            <a:spAutoFit/>
          </a:bodyPr>
          <a:lstStyle/>
          <a:p>
            <a:pPr>
              <a:defRPr sz="1300">
                <a:solidFill>
                  <a:srgbClr val="475569"/>
                </a:solidFill>
                <a:latin typeface="Calibri"/>
              </a:defRPr>
            </a:pPr>
            <a:r>
              <a:t>Live automated test suite (verify_demo.py) passing 7/7 verification checks with exit code 0.</a:t>
            </a:r>
          </a:p>
        </p:txBody>
      </p:sp>
      <p:sp>
        <p:nvSpPr>
          <p:cNvPr id="9" name="Rounded Rectangle 8"/>
          <p:cNvSpPr/>
          <p:nvPr/>
        </p:nvSpPr>
        <p:spPr>
          <a:xfrm>
            <a:off x="731520" y="2240280"/>
            <a:ext cx="6858000" cy="3931920"/>
          </a:xfrm>
          <a:prstGeom prst="roundRect">
            <a:avLst/>
          </a:prstGeom>
          <a:solidFill>
            <a:srgbClr val="FFFFFF"/>
          </a:solidFill>
          <a:ln w="254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423160"/>
            <a:ext cx="6492240" cy="3566160"/>
          </a:xfrm>
          <a:prstGeom prst="rect">
            <a:avLst/>
          </a:prstGeom>
          <a:noFill/>
        </p:spPr>
        <p:txBody>
          <a:bodyPr wrap="square">
            <a:spAutoFit/>
          </a:bodyPr>
          <a:lstStyle/>
          <a:p>
            <a:pPr>
              <a:spcAft>
                <a:spcPts val="800"/>
              </a:spcAft>
              <a:defRPr sz="1500" b="1">
                <a:solidFill>
                  <a:srgbClr val="059669"/>
                </a:solidFill>
                <a:latin typeface="Segoe UI"/>
              </a:defRPr>
            </a:pPr>
            <a:r>
              <a:t>Programmatic Verification Results (100% Pass)</a:t>
            </a:r>
          </a:p>
          <a:p>
            <a:pPr>
              <a:defRPr sz="1100" b="1">
                <a:solidFill>
                  <a:srgbClr val="0F172A"/>
                </a:solidFill>
                <a:latin typeface="Calibri"/>
              </a:defRPr>
            </a:pPr>
            <a:r>
              <a:t>✅ [Step 1] Services Health Check: </a:t>
            </a:r>
            <a:r>
              <a:rPr b="0">
                <a:solidFill>
                  <a:srgbClr val="475569"/>
                </a:solidFill>
              </a:rPr>
              <a:t>Edge API (:8000), Cloud API (:8001), Next.js Frontend (:3000) verified healthy.</a:t>
            </a:r>
          </a:p>
          <a:p>
            <a:pPr>
              <a:defRPr sz="1100" b="1">
                <a:solidFill>
                  <a:srgbClr val="0F172A"/>
                </a:solidFill>
                <a:latin typeface="Calibri"/>
              </a:defRPr>
            </a:pPr>
            <a:r>
              <a:t>✅ [Step 2] Airplane Mode Enforcement: </a:t>
            </a:r>
            <a:r>
              <a:rPr b="0">
                <a:solidFill>
                  <a:srgbClr val="475569"/>
                </a:solidFill>
              </a:rPr>
              <a:t>Offline toggle active; network requests blocked &amp; deferred as expected.</a:t>
            </a:r>
          </a:p>
          <a:p>
            <a:pPr>
              <a:defRPr sz="1100" b="1">
                <a:solidFill>
                  <a:srgbClr val="0F172A"/>
                </a:solidFill>
                <a:latin typeface="Calibri"/>
              </a:defRPr>
            </a:pPr>
            <a:r>
              <a:t>✅ [Step 3] Offline Search Execution: </a:t>
            </a:r>
            <a:r>
              <a:rPr b="0">
                <a:solidFill>
                  <a:srgbClr val="475569"/>
                </a:solidFill>
              </a:rPr>
              <a:t>Native qdrant_edge.EdgeShard executed vector search in &lt;800ms with zero cloud calls.</a:t>
            </a:r>
          </a:p>
          <a:p>
            <a:pPr>
              <a:defRPr sz="1100" b="1">
                <a:solidFill>
                  <a:srgbClr val="0F172A"/>
                </a:solidFill>
                <a:latin typeface="Calibri"/>
              </a:defRPr>
            </a:pPr>
            <a:r>
              <a:t>✅ [Step 4] Local Write Staging: </a:t>
            </a:r>
            <a:r>
              <a:rPr b="0">
                <a:solidFill>
                  <a:srgbClr val="475569"/>
                </a:solidFill>
              </a:rPr>
              <a:t>New observation logged while offline; staged in pending queue with monotonic sequence ID.</a:t>
            </a:r>
          </a:p>
          <a:p>
            <a:pPr>
              <a:defRPr sz="1100" b="1">
                <a:solidFill>
                  <a:srgbClr val="0F172A"/>
                </a:solidFill>
                <a:latin typeface="Calibri"/>
              </a:defRPr>
            </a:pPr>
            <a:r>
              <a:t>✅ [Step 5] Memory &amp; Disk Inspection: </a:t>
            </a:r>
            <a:r>
              <a:rPr b="0">
                <a:solidFill>
                  <a:srgbClr val="475569"/>
                </a:solidFill>
              </a:rPr>
              <a:t>Inspected native EdgeShard segments, WAL directory, and 384d vector index.</a:t>
            </a:r>
          </a:p>
          <a:p>
            <a:pPr>
              <a:defRPr sz="1100" b="1">
                <a:solidFill>
                  <a:srgbClr val="0F172A"/>
                </a:solidFill>
                <a:latin typeface="Calibri"/>
              </a:defRPr>
            </a:pPr>
            <a:r>
              <a:t>✅ [Step 6] Reconnection &amp; Delta Sync: </a:t>
            </a:r>
            <a:r>
              <a:rPr b="0">
                <a:solidFill>
                  <a:srgbClr val="475569"/>
                </a:solidFill>
              </a:rPr>
              <a:t>Network toggled online; pushed staged writes and pulled 7 central updates cleanly.</a:t>
            </a:r>
          </a:p>
          <a:p>
            <a:pPr>
              <a:defRPr sz="1100" b="1">
                <a:solidFill>
                  <a:srgbClr val="0F172A"/>
                </a:solidFill>
                <a:latin typeface="Calibri"/>
              </a:defRPr>
            </a:pPr>
            <a:r>
              <a:t>✅ [Step 7] Central Conflict &amp; AI Reasoning: </a:t>
            </a:r>
            <a:r>
              <a:rPr b="0">
                <a:solidFill>
                  <a:srgbClr val="475569"/>
                </a:solidFill>
              </a:rPr>
              <a:t>LOTO safety conflict inspected in central queue with live Groq LLaMA reasoning preview.</a:t>
            </a:r>
          </a:p>
        </p:txBody>
      </p:sp>
      <p:sp>
        <p:nvSpPr>
          <p:cNvPr id="11" name="Rounded Rectangle 10"/>
          <p:cNvSpPr/>
          <p:nvPr/>
        </p:nvSpPr>
        <p:spPr>
          <a:xfrm>
            <a:off x="7772400" y="2240280"/>
            <a:ext cx="365760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468880"/>
            <a:ext cx="3200400" cy="3474720"/>
          </a:xfrm>
          <a:prstGeom prst="rect">
            <a:avLst/>
          </a:prstGeom>
          <a:noFill/>
        </p:spPr>
        <p:txBody>
          <a:bodyPr wrap="square">
            <a:spAutoFit/>
          </a:bodyPr>
          <a:lstStyle/>
          <a:p>
            <a:pPr>
              <a:defRPr sz="1400" b="1">
                <a:solidFill>
                  <a:srgbClr val="0F172A"/>
                </a:solidFill>
                <a:latin typeface="Segoe UI"/>
              </a:defRPr>
            </a:pPr>
            <a:r>
              <a:t>VALIDATED ENVIRONMENT</a:t>
            </a:r>
          </a:p>
          <a:p>
            <a:pPr>
              <a:spcAft>
                <a:spcPts val="400"/>
              </a:spcAft>
              <a:defRPr sz="2800" b="1">
                <a:solidFill>
                  <a:srgbClr val="059669"/>
                </a:solidFill>
                <a:latin typeface="Segoe UI"/>
              </a:defRPr>
            </a:pPr>
            <a:r>
              <a:t>7 / 7 PASSED</a:t>
            </a:r>
          </a:p>
          <a:p>
            <a:pPr>
              <a:defRPr sz="1100" b="1">
                <a:solidFill>
                  <a:srgbClr val="2563EB"/>
                </a:solidFill>
                <a:latin typeface="Segoe UI"/>
              </a:defRPr>
            </a:pPr>
            <a:r>
              <a:t>• qdrant-edge-py: </a:t>
            </a:r>
            <a:r>
              <a:rPr b="0">
                <a:solidFill>
                  <a:srgbClr val="475569"/>
                </a:solidFill>
              </a:rPr>
              <a:t>==0.8.0 (Native EdgeShard bindings)</a:t>
            </a:r>
          </a:p>
          <a:p>
            <a:pPr>
              <a:defRPr sz="1100" b="1">
                <a:solidFill>
                  <a:srgbClr val="2563EB"/>
                </a:solidFill>
                <a:latin typeface="Segoe UI"/>
              </a:defRPr>
            </a:pPr>
            <a:r>
              <a:t>• Embeddings: </a:t>
            </a:r>
            <a:r>
              <a:rPr b="0">
                <a:solidFill>
                  <a:srgbClr val="475569"/>
                </a:solidFill>
              </a:rPr>
              <a:t>FastEmbed BGE-small-en-v1.5 (384d)</a:t>
            </a:r>
          </a:p>
          <a:p>
            <a:pPr>
              <a:defRPr sz="1100" b="1">
                <a:solidFill>
                  <a:srgbClr val="2563EB"/>
                </a:solidFill>
                <a:latin typeface="Segoe UI"/>
              </a:defRPr>
            </a:pPr>
            <a:r>
              <a:t>• Runtime OS: </a:t>
            </a:r>
            <a:r>
              <a:rPr b="0">
                <a:solidFill>
                  <a:srgbClr val="475569"/>
                </a:solidFill>
              </a:rPr>
              <a:t>Windows 11 x64 / Python 3.13</a:t>
            </a:r>
          </a:p>
          <a:p>
            <a:pPr>
              <a:defRPr sz="1100" b="1">
                <a:solidFill>
                  <a:srgbClr val="2563EB"/>
                </a:solidFill>
                <a:latin typeface="Segoe UI"/>
              </a:defRPr>
            </a:pPr>
            <a:r>
              <a:t>• Observed Latency: </a:t>
            </a:r>
            <a:r>
              <a:rPr b="0">
                <a:solidFill>
                  <a:srgbClr val="475569"/>
                </a:solidFill>
              </a:rPr>
              <a:t>~100–135ms warm cache (&lt;200ms passed)</a:t>
            </a:r>
          </a:p>
          <a:p>
            <a:pPr>
              <a:defRPr sz="1100" b="1">
                <a:solidFill>
                  <a:srgbClr val="2563EB"/>
                </a:solidFill>
                <a:latin typeface="Segoe UI"/>
              </a:defRPr>
            </a:pPr>
            <a:r>
              <a:t>• Audit Script: </a:t>
            </a:r>
            <a:r>
              <a:rPr b="0">
                <a:solidFill>
                  <a:srgbClr val="475569"/>
                </a:solidFill>
              </a:rPr>
              <a:t>python verify_demo.py (exit code 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4114800" cy="457200"/>
          </a:xfrm>
          <a:prstGeom prst="rect">
            <a:avLst/>
          </a:prstGeom>
          <a:noFill/>
        </p:spPr>
        <p:txBody>
          <a:bodyPr wrap="square">
            <a:spAutoFit/>
          </a:bodyPr>
          <a:lstStyle/>
          <a:p>
            <a:pPr>
              <a:defRPr sz="1500" b="1">
                <a:solidFill>
                  <a:srgbClr val="0F172A"/>
                </a:solidFill>
                <a:latin typeface="Segoe UI"/>
              </a:defRPr>
            </a:pPr>
            <a:r>
              <a:t>🏭 PlantMind Edge  </a:t>
            </a:r>
            <a:r>
              <a:rPr sz="1100" b="1">
                <a:solidFill>
                  <a:srgbClr val="D97706"/>
                </a:solidFill>
                <a:latin typeface="Calibri"/>
              </a:rPr>
              <a:t>[ Qdrant Hackathon ]</a:t>
            </a:r>
          </a:p>
        </p:txBody>
      </p:sp>
      <p:sp>
        <p:nvSpPr>
          <p:cNvPr id="4" name="TextBox 3"/>
          <p:cNvSpPr txBox="1"/>
          <p:nvPr/>
        </p:nvSpPr>
        <p:spPr>
          <a:xfrm>
            <a:off x="4389120" y="164592"/>
            <a:ext cx="4023360" cy="411480"/>
          </a:xfrm>
          <a:prstGeom prst="rect">
            <a:avLst/>
          </a:prstGeom>
          <a:noFill/>
        </p:spPr>
        <p:txBody>
          <a:bodyPr wrap="none">
            <a:spAutoFit/>
          </a:bodyPr>
          <a:lstStyle/>
          <a:p>
            <a:pPr algn="ctr">
              <a:defRPr sz="1100">
                <a:solidFill>
                  <a:srgbClr val="475569"/>
                </a:solidFill>
                <a:latin typeface="Calibri"/>
              </a:defRPr>
            </a:pPr>
            <a:r>
              <a:t>Official qdrant-edge-py 0.8.0 Showcase</a:t>
            </a:r>
          </a:p>
        </p:txBody>
      </p:sp>
      <p:sp>
        <p:nvSpPr>
          <p:cNvPr id="5" name="TextBox 4"/>
          <p:cNvSpPr txBox="1"/>
          <p:nvPr/>
        </p:nvSpPr>
        <p:spPr>
          <a:xfrm>
            <a:off x="8412480" y="164592"/>
            <a:ext cx="3200400" cy="411480"/>
          </a:xfrm>
          <a:prstGeom prst="rect">
            <a:avLst/>
          </a:prstGeom>
          <a:noFill/>
        </p:spPr>
        <p:txBody>
          <a:bodyPr wrap="none">
            <a:spAutoFit/>
          </a:bodyPr>
          <a:lstStyle/>
          <a:p>
            <a:pPr algn="r">
              <a:defRPr sz="1100" b="1">
                <a:solidFill>
                  <a:srgbClr val="475569"/>
                </a:solidFill>
                <a:latin typeface="Calibri"/>
              </a:defRPr>
            </a:pPr>
            <a:r>
              <a:t>🎙️ Indian English | Slide 09 / 09</a:t>
            </a:r>
          </a:p>
        </p:txBody>
      </p:sp>
      <p:sp>
        <p:nvSpPr>
          <p:cNvPr id="6" name="TextBox 5"/>
          <p:cNvSpPr txBox="1"/>
          <p:nvPr/>
        </p:nvSpPr>
        <p:spPr>
          <a:xfrm>
            <a:off x="731520" y="868680"/>
            <a:ext cx="10515600" cy="320040"/>
          </a:xfrm>
          <a:prstGeom prst="rect">
            <a:avLst/>
          </a:prstGeom>
          <a:noFill/>
        </p:spPr>
        <p:txBody>
          <a:bodyPr wrap="none">
            <a:spAutoFit/>
          </a:bodyPr>
          <a:lstStyle/>
          <a:p>
            <a:pPr>
              <a:defRPr sz="1000" b="1">
                <a:solidFill>
                  <a:srgbClr val="D97706"/>
                </a:solidFill>
                <a:latin typeface="Segoe UI"/>
              </a:defRPr>
            </a:pPr>
            <a:r>
              <a:t>BUSINESS VALUE &amp; VISION</a:t>
            </a:r>
          </a:p>
        </p:txBody>
      </p:sp>
      <p:sp>
        <p:nvSpPr>
          <p:cNvPr id="7" name="TextBox 6"/>
          <p:cNvSpPr txBox="1"/>
          <p:nvPr/>
        </p:nvSpPr>
        <p:spPr>
          <a:xfrm>
            <a:off x="731520" y="1115568"/>
            <a:ext cx="10515600" cy="594360"/>
          </a:xfrm>
          <a:prstGeom prst="rect">
            <a:avLst/>
          </a:prstGeom>
          <a:noFill/>
        </p:spPr>
        <p:txBody>
          <a:bodyPr wrap="none">
            <a:spAutoFit/>
          </a:bodyPr>
          <a:lstStyle/>
          <a:p>
            <a:pPr>
              <a:defRPr sz="2600" b="1">
                <a:solidFill>
                  <a:srgbClr val="0F172A"/>
                </a:solidFill>
                <a:latin typeface="Segoe UI"/>
              </a:defRPr>
            </a:pPr>
            <a:r>
              <a:t>Enterprise Deployment &amp; Downtime Avoidance</a:t>
            </a:r>
          </a:p>
        </p:txBody>
      </p:sp>
      <p:sp>
        <p:nvSpPr>
          <p:cNvPr id="8" name="TextBox 7"/>
          <p:cNvSpPr txBox="1"/>
          <p:nvPr/>
        </p:nvSpPr>
        <p:spPr>
          <a:xfrm>
            <a:off x="731520" y="1691640"/>
            <a:ext cx="10515600" cy="411480"/>
          </a:xfrm>
          <a:prstGeom prst="rect">
            <a:avLst/>
          </a:prstGeom>
          <a:noFill/>
        </p:spPr>
        <p:txBody>
          <a:bodyPr wrap="none">
            <a:spAutoFit/>
          </a:bodyPr>
          <a:lstStyle/>
          <a:p>
            <a:pPr>
              <a:defRPr sz="1300">
                <a:solidFill>
                  <a:srgbClr val="475569"/>
                </a:solidFill>
                <a:latin typeface="Calibri"/>
              </a:defRPr>
            </a:pPr>
            <a:r>
              <a:t>Capturing tribal expertise before it walks out the door.</a:t>
            </a:r>
          </a:p>
        </p:txBody>
      </p:sp>
      <p:pic>
        <p:nvPicPr>
          <p:cNvPr id="9" name="Picture 8" descr="05_central_knowledge_explorer.png"/>
          <p:cNvPicPr>
            <a:picLocks noChangeAspect="1"/>
          </p:cNvPicPr>
          <p:nvPr/>
        </p:nvPicPr>
        <p:blipFill>
          <a:blip r:embed="rId2"/>
          <a:stretch>
            <a:fillRect/>
          </a:stretch>
        </p:blipFill>
        <p:spPr>
          <a:xfrm>
            <a:off x="731520" y="2240280"/>
            <a:ext cx="6583680" cy="4389120"/>
          </a:xfrm>
          <a:prstGeom prst="rect">
            <a:avLst/>
          </a:prstGeom>
        </p:spPr>
      </p:pic>
      <p:sp>
        <p:nvSpPr>
          <p:cNvPr id="10" name="Rounded Rectangle 9"/>
          <p:cNvSpPr/>
          <p:nvPr/>
        </p:nvSpPr>
        <p:spPr>
          <a:xfrm>
            <a:off x="7589520" y="2240280"/>
            <a:ext cx="3840480" cy="3931920"/>
          </a:xfrm>
          <a:prstGeom prst="roundRect">
            <a:avLst/>
          </a:prstGeom>
          <a:solidFill>
            <a:srgbClr val="FFFFFF"/>
          </a:solidFill>
          <a:ln w="254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2468880"/>
            <a:ext cx="3383280" cy="3474720"/>
          </a:xfrm>
          <a:prstGeom prst="rect">
            <a:avLst/>
          </a:prstGeom>
          <a:noFill/>
        </p:spPr>
        <p:txBody>
          <a:bodyPr wrap="square">
            <a:spAutoFit/>
          </a:bodyPr>
          <a:lstStyle/>
          <a:p>
            <a:pPr>
              <a:defRPr sz="1700" b="1">
                <a:solidFill>
                  <a:srgbClr val="0F172A"/>
                </a:solidFill>
                <a:latin typeface="Segoe UI"/>
              </a:defRPr>
            </a:pPr>
            <a:r>
              <a:t>Potential Downtime Avoidance</a:t>
            </a:r>
          </a:p>
          <a:p>
            <a:pPr>
              <a:spcAft>
                <a:spcPts val="200"/>
              </a:spcAft>
              <a:defRPr sz="3600" b="1">
                <a:solidFill>
                  <a:srgbClr val="059669"/>
                </a:solidFill>
                <a:latin typeface="Segoe UI"/>
              </a:defRPr>
            </a:pPr>
            <a:r>
              <a:t>$2.6M</a:t>
            </a:r>
          </a:p>
          <a:p>
            <a:pPr>
              <a:spcAft>
                <a:spcPts val="1200"/>
              </a:spcAft>
              <a:defRPr sz="1100">
                <a:solidFill>
                  <a:srgbClr val="475569"/>
                </a:solidFill>
                <a:latin typeface="Calibri"/>
              </a:defRPr>
            </a:pPr>
            <a:r>
              <a:t>Illustrative value of avoiding a single 2-hour downtime event at the stated $22K/minute assumption.</a:t>
            </a:r>
          </a:p>
          <a:p>
            <a:pPr>
              <a:defRPr sz="1200" b="1">
                <a:solidFill>
                  <a:srgbClr val="2563EB"/>
                </a:solidFill>
                <a:latin typeface="Segoe UI"/>
              </a:defRPr>
            </a:pPr>
            <a:r>
              <a:t>✓ Enterprise Deployment</a:t>
            </a:r>
          </a:p>
          <a:p>
            <a:pPr>
              <a:spcAft>
                <a:spcPts val="800"/>
              </a:spcAft>
              <a:defRPr sz="1100">
                <a:solidFill>
                  <a:srgbClr val="475569"/>
                </a:solidFill>
                <a:latin typeface="Calibri"/>
              </a:defRPr>
            </a:pPr>
            <a:r>
              <a:t>   Per-facility deployment designed around avoided downtime and knowledge continuity.</a:t>
            </a:r>
          </a:p>
          <a:p>
            <a:pPr>
              <a:defRPr sz="1200" b="1">
                <a:solidFill>
                  <a:srgbClr val="D97706"/>
                </a:solidFill>
                <a:latin typeface="Segoe UI"/>
              </a:defRPr>
            </a:pPr>
            <a:r>
              <a:t>✓ Fleet Knowledge Master</a:t>
            </a:r>
          </a:p>
          <a:p>
            <a:pPr>
              <a:spcAft>
                <a:spcPts val="800"/>
              </a:spcAft>
              <a:defRPr sz="1100">
                <a:solidFill>
                  <a:srgbClr val="475569"/>
                </a:solidFill>
                <a:latin typeface="Calibri"/>
              </a:defRPr>
            </a:pPr>
            <a:r>
              <a:t>   Central Qdrant synchronizes verified maintenance solutions across multi-plant operations.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